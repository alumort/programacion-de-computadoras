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6B532D-D57A-40D2-88DC-642C3D762919}" v="15" dt="2024-08-12T12:40:38.4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43135-EE7A-4C2F-B3F0-B3870E46A891}" type="datetimeFigureOut">
              <a:rPr lang="es-AR"/>
              <a:t>12/8/2024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A0268-EECE-4CF1-82FD-74BF595D373C}" type="slidenum">
              <a:rPr lang="es-AR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A0268-EECE-4CF1-82FD-74BF595D373C}" type="slidenum">
              <a:rPr lang="es-AR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1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onedrive.live.com/?authkey=%21AKZA5dN710%5FAfaQ&amp;id=9A02EF040D777400%21272651&amp;cid=9A02EF040D777400" TargetMode="External"/><Relationship Id="rId3" Type="http://schemas.openxmlformats.org/officeDocument/2006/relationships/hyperlink" Target="http://solangeglescano%40gmail.com%20%3Csolangeglescano@gmail.com/" TargetMode="External"/><Relationship Id="rId7" Type="http://schemas.openxmlformats.org/officeDocument/2006/relationships/hyperlink" Target="https://drive.google.com/drive/folders/1HG_yKnJz-cyNp_fY6Oi8wGZQA6lp5uRn?usp=drive_link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bwWly6AYXqcKfHzzx-HvswwAXO7pd-sM" TargetMode="External"/><Relationship Id="rId5" Type="http://schemas.openxmlformats.org/officeDocument/2006/relationships/hyperlink" Target="https://join.slack.com/t/unlaprogramac-sq03771/shared_invite/zt-15vhrezlc-D11ywd~Pe35Ro32OskeiNg" TargetMode="External"/><Relationship Id="rId4" Type="http://schemas.openxmlformats.org/officeDocument/2006/relationships/hyperlink" Target="mailto:nperez_dcao_smn@outlook.com" TargetMode="External"/><Relationship Id="rId9" Type="http://schemas.openxmlformats.org/officeDocument/2006/relationships/hyperlink" Target="https://meet.jit.si/NykolaiPerezUNLa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s://es.wikipedia.org/wiki/Ordenamiento_de_burbuj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E241-9735-4E5B-AB49-469970779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713322"/>
            <a:ext cx="9448800" cy="1825096"/>
          </a:xfrm>
        </p:spPr>
        <p:txBody>
          <a:bodyPr/>
          <a:lstStyle/>
          <a:p>
            <a:r>
              <a:rPr lang="es-AR" dirty="0"/>
              <a:t>Programación de computadoras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63E95-53DF-429A-9155-E248FB34C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743201"/>
            <a:ext cx="9448800" cy="685800"/>
          </a:xfrm>
        </p:spPr>
        <p:txBody>
          <a:bodyPr>
            <a:normAutofit/>
          </a:bodyPr>
          <a:lstStyle/>
          <a:p>
            <a:r>
              <a:rPr lang="es-AR" dirty="0"/>
              <a:t>Licenciatura en Sistemas – UNIDAD 4: </a:t>
            </a:r>
            <a:r>
              <a:rPr lang="en-US" dirty="0" err="1"/>
              <a:t>Arreglos</a:t>
            </a:r>
            <a:r>
              <a:rPr lang="en-US" dirty="0"/>
              <a:t> – Orden y </a:t>
            </a:r>
            <a:r>
              <a:rPr lang="en-US" dirty="0" err="1"/>
              <a:t>búsqueda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40B9EE-F6E7-4E69-885D-B5C0E451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745332"/>
            <a:ext cx="1033510" cy="103351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076307-E8AE-4674-8A55-C8188A698BD4}"/>
              </a:ext>
            </a:extLst>
          </p:cNvPr>
          <p:cNvSpPr/>
          <p:nvPr/>
        </p:nvSpPr>
        <p:spPr>
          <a:xfrm>
            <a:off x="1286933" y="3424336"/>
            <a:ext cx="10524478" cy="163121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s-A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AR" sz="1100" b="1" dirty="0">
                <a:solidFill>
                  <a:srgbClr val="666666"/>
                </a:solidFill>
                <a:ea typeface="+mn-lt"/>
                <a:cs typeface="+mn-lt"/>
              </a:rPr>
              <a:t>Docentes:</a:t>
            </a:r>
            <a:r>
              <a:rPr lang="es-AR" sz="1100" dirty="0">
                <a:solidFill>
                  <a:srgbClr val="666666"/>
                </a:solidFill>
                <a:ea typeface="+mn-lt"/>
                <a:cs typeface="+mn-lt"/>
              </a:rPr>
              <a:t> Nicolás Pérez - Solange </a:t>
            </a:r>
            <a:r>
              <a:rPr lang="es-AR" sz="1100" dirty="0" err="1">
                <a:solidFill>
                  <a:srgbClr val="666666"/>
                </a:solidFill>
                <a:ea typeface="+mn-lt"/>
                <a:cs typeface="+mn-lt"/>
              </a:rPr>
              <a:t>Lescano</a:t>
            </a:r>
            <a:endParaRPr lang="es-AR" dirty="0" err="1"/>
          </a:p>
          <a:p>
            <a:r>
              <a:rPr lang="es-AR" sz="1100" dirty="0">
                <a:solidFill>
                  <a:srgbClr val="7D9FD3"/>
                </a:solidFill>
                <a:ea typeface="+mn-lt"/>
                <a:cs typeface="+mn-lt"/>
              </a:rPr>
              <a:t>Contactos: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3"/>
              </a:rPr>
              <a:t>solangeglescano@gmail.com  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4"/>
              </a:rPr>
              <a:t>nperez_dcao_smn@outlook.com</a:t>
            </a:r>
            <a:endParaRPr lang="es-AR"/>
          </a:p>
          <a:p>
            <a:r>
              <a:rPr lang="es-AR" sz="1100" dirty="0" err="1">
                <a:solidFill>
                  <a:srgbClr val="FFCF35"/>
                </a:solidFill>
                <a:ea typeface="+mn-lt"/>
                <a:cs typeface="+mn-lt"/>
              </a:rPr>
              <a:t>Slack</a:t>
            </a:r>
            <a:r>
              <a:rPr lang="es-AR" sz="1100" dirty="0">
                <a:solidFill>
                  <a:srgbClr val="FFCF35"/>
                </a:solidFill>
                <a:ea typeface="+mn-lt"/>
                <a:cs typeface="+mn-lt"/>
              </a:rPr>
              <a:t>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 </a:t>
            </a:r>
            <a:r>
              <a:rPr lang="es-AR" sz="1100" i="1" dirty="0">
                <a:solidFill>
                  <a:srgbClr val="51666C"/>
                </a:solidFill>
                <a:ea typeface="+mn-lt"/>
                <a:cs typeface="+mn-lt"/>
                <a:hlinkClick r:id="rId5"/>
              </a:rPr>
              <a:t>https://join.slack.com/t/unlaprogramac-sq03771/shared_invite/zt-15vhrezlc-D11ywd~Pe35Ro32OskeiNg</a:t>
            </a:r>
            <a:endParaRPr lang="es-AR"/>
          </a:p>
          <a:p>
            <a:r>
              <a:rPr lang="es-AR" sz="1100" b="1" dirty="0">
                <a:solidFill>
                  <a:srgbClr val="EF4540"/>
                </a:solidFill>
                <a:ea typeface="+mn-lt"/>
                <a:cs typeface="+mn-lt"/>
              </a:rPr>
              <a:t>Lista de reproducción: 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  <a:hlinkClick r:id="rId6"/>
              </a:rPr>
              <a:t>https://www.youtube.com/playlist?list=PLbwWly6AYXqcKfHzzx-HvswwAXO7pd-sM</a:t>
            </a:r>
            <a:b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</a:br>
            <a:endParaRPr lang="es-AR" sz="1100" dirty="0">
              <a:solidFill>
                <a:srgbClr val="333333"/>
              </a:solidFill>
              <a:ea typeface="+mn-lt"/>
              <a:cs typeface="+mn-lt"/>
            </a:endParaRPr>
          </a:p>
          <a:p>
            <a:r>
              <a:rPr lang="es-AR" sz="1100" dirty="0">
                <a:solidFill>
                  <a:srgbClr val="98CA3E"/>
                </a:solidFill>
                <a:ea typeface="+mn-lt"/>
                <a:cs typeface="+mn-lt"/>
              </a:rPr>
              <a:t>Material digital: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7"/>
              </a:rPr>
              <a:t>https://drive.google.com/drive/folders/1HG_yKnJz-cyNp_fY6Oi8wGZQA6lp5uRn?usp=drive_link</a:t>
            </a:r>
            <a:endParaRPr lang="es-AR"/>
          </a:p>
          <a:p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Parciales Viejos: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8"/>
              </a:rPr>
              <a:t>Ver aquí</a:t>
            </a:r>
            <a:endParaRPr lang="es-AR"/>
          </a:p>
          <a:p>
            <a:r>
              <a:rPr lang="es-AR" sz="1100" dirty="0" err="1">
                <a:solidFill>
                  <a:srgbClr val="7D9FD3"/>
                </a:solidFill>
                <a:ea typeface="+mn-lt"/>
                <a:cs typeface="+mn-lt"/>
              </a:rPr>
              <a:t>Meet</a:t>
            </a:r>
            <a:r>
              <a:rPr lang="es-AR" sz="1100" dirty="0">
                <a:solidFill>
                  <a:srgbClr val="7D9FD3"/>
                </a:solidFill>
                <a:ea typeface="+mn-lt"/>
                <a:cs typeface="+mn-lt"/>
              </a:rPr>
              <a:t>: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 </a:t>
            </a:r>
            <a:r>
              <a:rPr lang="es-AR" sz="1100" dirty="0">
                <a:solidFill>
                  <a:srgbClr val="51666C"/>
                </a:solidFill>
                <a:ea typeface="+mn-lt"/>
                <a:cs typeface="+mn-lt"/>
                <a:hlinkClick r:id="rId9"/>
              </a:rPr>
              <a:t>https://meet.jit.si/NykolaiPerezUNLa</a:t>
            </a:r>
            <a:r>
              <a:rPr lang="es-AR" sz="1100" dirty="0">
                <a:solidFill>
                  <a:srgbClr val="333333"/>
                </a:solidFill>
                <a:ea typeface="+mn-lt"/>
                <a:cs typeface="+mn-lt"/>
              </a:rPr>
              <a:t> 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17119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r>
              <a:rPr lang="es-AR" dirty="0"/>
              <a:t>Si trabajamos con un vector de números, puede surgir la necesidad de ordenar ese vector de mayor a menor, o de menor a mayor por algún motivo en particular. 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Ordenamiento de arreglos es una disciplina muy estudiada y hay varios algoritmos para realizarlo, nosotros veremos solo algunos.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El mas simple e intuitivo es el ordenamiento Burbuja: </a:t>
            </a:r>
          </a:p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ordenar un arreglo?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CCC86A-80F9-4693-ACA0-C04085BEAF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29" t="30000" r="48155" b="27120"/>
          <a:stretch/>
        </p:blipFill>
        <p:spPr>
          <a:xfrm>
            <a:off x="6400800" y="3160450"/>
            <a:ext cx="5220070" cy="36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7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pic>
        <p:nvPicPr>
          <p:cNvPr id="11" name="Marcador de contenido 10" descr="Imagen que contiene objeto&#10;&#10;Descripción generada automáticamente">
            <a:extLst>
              <a:ext uri="{FF2B5EF4-FFF2-40B4-BE49-F238E27FC236}">
                <a16:creationId xmlns:a16="http://schemas.microsoft.com/office/drawing/2014/main" id="{BB9BF8CD-34E5-4C94-8651-91179EFA7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4400" y="2229878"/>
            <a:ext cx="2381250" cy="1428750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1ED4AC6-D968-4D74-ABD0-73E3BE2181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27" t="16699" r="46323" b="29921"/>
          <a:stretch/>
        </p:blipFill>
        <p:spPr>
          <a:xfrm>
            <a:off x="188342" y="2925981"/>
            <a:ext cx="5906700" cy="366083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D37A99-ADD0-4AEA-B537-E480361B22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667" b="66493"/>
          <a:stretch/>
        </p:blipFill>
        <p:spPr>
          <a:xfrm>
            <a:off x="6197602" y="3297381"/>
            <a:ext cx="5370990" cy="291869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0BA032E-C4FF-4F2D-9570-316CB4197728}"/>
              </a:ext>
            </a:extLst>
          </p:cNvPr>
          <p:cNvSpPr txBox="1"/>
          <p:nvPr/>
        </p:nvSpPr>
        <p:spPr>
          <a:xfrm>
            <a:off x="9841391" y="4295061"/>
            <a:ext cx="2415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Vector Aleatorio</a:t>
            </a:r>
          </a:p>
          <a:p>
            <a:endParaRPr lang="es-AR" dirty="0">
              <a:solidFill>
                <a:srgbClr val="FF0000"/>
              </a:solidFill>
            </a:endParaRPr>
          </a:p>
          <a:p>
            <a:r>
              <a:rPr lang="es-AR" dirty="0">
                <a:solidFill>
                  <a:srgbClr val="FF0000"/>
                </a:solidFill>
              </a:rPr>
              <a:t>Vector Ordenado</a:t>
            </a:r>
          </a:p>
        </p:txBody>
      </p:sp>
    </p:spTree>
    <p:extLst>
      <p:ext uri="{BB962C8B-B14F-4D97-AF65-F5344CB8AC3E}">
        <p14:creationId xmlns:p14="http://schemas.microsoft.com/office/powerpoint/2010/main" val="27024897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¿Qué otra forma de ordenar hay?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D00D0A5-741A-481F-9F06-C441A0F71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23604"/>
            <a:ext cx="7508289" cy="379508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AR" dirty="0"/>
              <a:t>Otro de los ordenamientos que usaremos en la cursada es el ordenamiento de selección.</a:t>
            </a:r>
          </a:p>
          <a:p>
            <a:pPr algn="just"/>
            <a:endParaRPr lang="es-AR" dirty="0"/>
          </a:p>
          <a:p>
            <a:pPr marL="0" indent="0" algn="just">
              <a:buNone/>
            </a:pPr>
            <a:r>
              <a:rPr lang="es-AR" dirty="0"/>
              <a:t>Este algoritmo mejora ligeramente el </a:t>
            </a:r>
            <a:r>
              <a:rPr lang="es-AR" dirty="0">
                <a:hlinkClick r:id="rId2" tooltip="Ordenamiento de burbuja"/>
              </a:rPr>
              <a:t>algoritmo de la burbuja</a:t>
            </a:r>
            <a:r>
              <a:rPr lang="es-AR" dirty="0"/>
              <a:t>. En el caso de tener que ordenar un vector de enteros, esta mejora no es muy sustancial, pero cuando hay que ordenar un vector de estructuras más complejas, la operación </a:t>
            </a:r>
            <a:r>
              <a:rPr lang="es-AR" b="1" dirty="0"/>
              <a:t>intercambiar()</a:t>
            </a:r>
            <a:r>
              <a:rPr lang="es-AR" dirty="0"/>
              <a:t> sería más costosa en este caso. Este algoritmo realiza muchas menos operaciones </a:t>
            </a:r>
            <a:r>
              <a:rPr lang="es-AR" b="1" dirty="0"/>
              <a:t>intercambiar()</a:t>
            </a:r>
            <a:r>
              <a:rPr lang="es-AR" dirty="0"/>
              <a:t> que el de la burbuja, por lo que lo mejora en algo. </a:t>
            </a:r>
          </a:p>
          <a:p>
            <a:pPr marL="0" indent="0" algn="just">
              <a:buNone/>
            </a:pPr>
            <a:r>
              <a:rPr lang="es-AR" dirty="0"/>
              <a:t>Otra desventaja de este algoritmo respecto a otros como el de burbuja o de inserción directa es que no mejora su rendimiento cuando los datos ya están ordenados o parcialmente ordenados. Así como, por ejemplo, en el caso de la ordenación de burbuja se requeriría una única pasada para detectar que el vector ya está ordenado y finalizar, en la ordenación por selección se realizarían el mismo número de pasadas independientemente de si los datos están ordenados o no.</a:t>
            </a:r>
          </a:p>
          <a:p>
            <a:endParaRPr lang="es-AR" dirty="0"/>
          </a:p>
        </p:txBody>
      </p:sp>
      <p:pic>
        <p:nvPicPr>
          <p:cNvPr id="21" name="Imagen 20" descr="Imagen que contiene objeto&#10;&#10;Descripción generada automáticamente">
            <a:extLst>
              <a:ext uri="{FF2B5EF4-FFF2-40B4-BE49-F238E27FC236}">
                <a16:creationId xmlns:a16="http://schemas.microsoft.com/office/drawing/2014/main" id="{A57696FA-CEDF-4097-88D1-D28CC20A5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440" y="2423604"/>
            <a:ext cx="9525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23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C8C4D1-396C-4ED3-9424-CDB584DAA9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50" t="43107" r="48010" b="28932"/>
          <a:stretch/>
        </p:blipFill>
        <p:spPr>
          <a:xfrm>
            <a:off x="6657884" y="2177660"/>
            <a:ext cx="5370990" cy="25026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C8A5EC-099B-4F13-86B3-14CF424048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83" t="22287" r="48009" b="36829"/>
          <a:stretch/>
        </p:blipFill>
        <p:spPr>
          <a:xfrm>
            <a:off x="353627" y="2297920"/>
            <a:ext cx="5894774" cy="456007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3D0D414-1CA8-4B39-92E0-D119AF85DA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47" t="3636" r="64102" b="59871"/>
          <a:stretch/>
        </p:blipFill>
        <p:spPr>
          <a:xfrm>
            <a:off x="4695381" y="4635468"/>
            <a:ext cx="3574743" cy="22612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7AEFB1B-F2F2-4DA1-9F10-87A7593C8F64}"/>
              </a:ext>
            </a:extLst>
          </p:cNvPr>
          <p:cNvSpPr txBox="1"/>
          <p:nvPr/>
        </p:nvSpPr>
        <p:spPr>
          <a:xfrm>
            <a:off x="8522563" y="5078027"/>
            <a:ext cx="2920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Se aprecia que el resultado obtenido es el mismo que con burbuja, ambos métodos funcionan. </a:t>
            </a:r>
          </a:p>
        </p:txBody>
      </p:sp>
    </p:spTree>
    <p:extLst>
      <p:ext uri="{BB962C8B-B14F-4D97-AF65-F5344CB8AC3E}">
        <p14:creationId xmlns:p14="http://schemas.microsoft.com/office/powerpoint/2010/main" val="44124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El ultimo método que veremos es inserción</a:t>
            </a:r>
            <a:endParaRPr lang="es-E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9510FF-FC47-4B13-98EB-1906538D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110" y="2174812"/>
            <a:ext cx="7608533" cy="404387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AR" dirty="0"/>
              <a:t>El </a:t>
            </a:r>
            <a:r>
              <a:rPr lang="es-AR" b="1" dirty="0"/>
              <a:t>ordenamiento por inserción</a:t>
            </a:r>
            <a:r>
              <a:rPr lang="es-AR" dirty="0"/>
              <a:t> es una manera muy natural de ordenar para un ser humano, y puede usarse fácilmente para ordenar un mazo de cartas numeradas en forma arbitraria. Requiere </a:t>
            </a:r>
            <a:r>
              <a:rPr lang="es-AR" b="1" dirty="0"/>
              <a:t>O(n²)</a:t>
            </a:r>
            <a:r>
              <a:rPr lang="es-AR" dirty="0"/>
              <a:t> operaciones para ordenar una lista de </a:t>
            </a:r>
            <a:r>
              <a:rPr lang="es-AR" b="1" dirty="0"/>
              <a:t>n</a:t>
            </a:r>
            <a:r>
              <a:rPr lang="es-AR" dirty="0"/>
              <a:t> elementos.</a:t>
            </a:r>
          </a:p>
          <a:p>
            <a:pPr marL="0" indent="0" algn="just">
              <a:buNone/>
            </a:pPr>
            <a:r>
              <a:rPr lang="es-AR" dirty="0"/>
              <a:t>Inicialmente se tiene un solo elemento, que obviamente es un conjunto ordenado. Después, cuando hay</a:t>
            </a:r>
            <a:r>
              <a:rPr lang="es-AR" b="1" dirty="0"/>
              <a:t> </a:t>
            </a:r>
            <a:r>
              <a:rPr lang="es-AR" b="1" i="1" dirty="0"/>
              <a:t>k</a:t>
            </a:r>
            <a:r>
              <a:rPr lang="es-AR" b="1" dirty="0"/>
              <a:t> </a:t>
            </a:r>
            <a:r>
              <a:rPr lang="es-AR" dirty="0"/>
              <a:t>elementos ordenados de menor a mayor, se toma el elemento </a:t>
            </a:r>
            <a:r>
              <a:rPr lang="es-AR" b="1" i="1" dirty="0"/>
              <a:t>k+1</a:t>
            </a:r>
            <a:r>
              <a:rPr lang="es-AR" dirty="0"/>
              <a:t> y se compara con todos los elementos ya ordenados, deteniéndose cuando se encuentra un elemento menor (todos los elementos mayores han sido desplazados una posición a la derecha) o cuando ya no se encuentran elementos (todos los elementos fueron desplazados y este es el más pequeño). En este punto se </a:t>
            </a:r>
            <a:r>
              <a:rPr lang="es-AR" i="1" dirty="0"/>
              <a:t>inserta</a:t>
            </a:r>
            <a:r>
              <a:rPr lang="es-AR" dirty="0"/>
              <a:t> el elemento </a:t>
            </a:r>
            <a:r>
              <a:rPr lang="es-AR" b="1" i="1" dirty="0"/>
              <a:t>k+1</a:t>
            </a:r>
            <a:r>
              <a:rPr lang="es-AR" dirty="0"/>
              <a:t> debiendo desplazarse los demás elementos.</a:t>
            </a:r>
          </a:p>
          <a:p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F5F3B83-A3F0-408B-A28E-AEE82378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516" y="3184773"/>
            <a:ext cx="3200401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08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6C0A0D8D-1450-4ACF-9019-A0DB874EE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46" t="34654" r="47377" b="27623"/>
          <a:stretch/>
        </p:blipFill>
        <p:spPr>
          <a:xfrm>
            <a:off x="6824813" y="2222836"/>
            <a:ext cx="5274952" cy="44842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999928-6953-4927-947E-411FD5702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54" t="17994" r="47888" b="34498"/>
          <a:stretch/>
        </p:blipFill>
        <p:spPr>
          <a:xfrm>
            <a:off x="-2086" y="2266502"/>
            <a:ext cx="6195462" cy="356897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2FDDD67-7ABD-40C0-8643-F3466473BD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14" t="1861" r="64831" b="59094"/>
          <a:stretch/>
        </p:blipFill>
        <p:spPr>
          <a:xfrm>
            <a:off x="3955176" y="4427983"/>
            <a:ext cx="4091065" cy="267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95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B7A512-4BAB-45E2-B511-B86071EB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AR" b="1" u="sng" dirty="0"/>
              <a:t>Ejercicio 1: </a:t>
            </a:r>
            <a:r>
              <a:rPr lang="es-AR" dirty="0"/>
              <a:t>Crear un menú que permita, crear vector, mostrar vector y elegir porque método de ordenamiento va a reorganizar el vector, luego que muestre el vector ordenado. </a:t>
            </a:r>
          </a:p>
          <a:p>
            <a:pPr algn="just"/>
            <a:r>
              <a:rPr lang="es-AR" b="1" u="sng" dirty="0"/>
              <a:t>Ejercicio 2: </a:t>
            </a:r>
            <a:r>
              <a:rPr lang="es-AR" dirty="0"/>
              <a:t>Haga un menú semejante al anterior, pero también se tiene que poder elegir si se quiere ordenar de  mayor a menor o de menor a mayor. </a:t>
            </a:r>
          </a:p>
          <a:p>
            <a:pPr algn="just"/>
            <a:r>
              <a:rPr lang="es-AR" b="1" u="sng" dirty="0"/>
              <a:t>Ejercicio 3: </a:t>
            </a:r>
            <a:r>
              <a:rPr lang="es-AR" dirty="0"/>
              <a:t>¿Funcionan los métodos con vectores de flotantes?¿Como haría para que funcionen? </a:t>
            </a:r>
          </a:p>
          <a:p>
            <a:pPr algn="just"/>
            <a:r>
              <a:rPr lang="es-AR" b="1" u="sng" dirty="0"/>
              <a:t>Ejercicio 4: </a:t>
            </a:r>
            <a:r>
              <a:rPr lang="es-AR" dirty="0"/>
              <a:t>Investigue en nuestros apuntes y otros, otros métodos de ordenamiento, trate de conseguir y explicar su funcionamiento en C, se les podría preguntar algo sobre algún método extra que a usted le interese en los exámenes. </a:t>
            </a:r>
          </a:p>
        </p:txBody>
      </p:sp>
    </p:spTree>
    <p:extLst>
      <p:ext uri="{BB962C8B-B14F-4D97-AF65-F5344CB8AC3E}">
        <p14:creationId xmlns:p14="http://schemas.microsoft.com/office/powerpoint/2010/main" val="3880540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AR" dirty="0"/>
              <a:t>Supongamos que tenemos un vector de 10000 elementos numéricos, y yo les pregunto si el numero 13.72 pertenece al vector. Como harían? Los algoritmos que resuelven esto problemas se llaman algoritmos de búsqueda. Trabajaremos dos en la cursada, la búsqueda secuencial, y la búsqueda binaria. 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La búsqueda secuencial es quizás la mas fácil y es la que todos ustedes ya sabían hacer sin conocer su nombre, consta en recorrer todos los elementos y en base a un </a:t>
            </a:r>
            <a:r>
              <a:rPr lang="es-AR" dirty="0" err="1"/>
              <a:t>if</a:t>
            </a:r>
            <a:r>
              <a:rPr lang="es-AR" dirty="0"/>
              <a:t>, ver si el elemento existe o no.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buscar un elemento en  un arreglo?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096919-8998-406B-A7C8-5EEF6DE362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54" t="39871" r="45461" b="25954"/>
          <a:stretch/>
        </p:blipFill>
        <p:spPr>
          <a:xfrm>
            <a:off x="6096000" y="2819792"/>
            <a:ext cx="5850385" cy="349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98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la implementación?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5B69A7-C612-47AD-98BF-938E6FCA836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107" t="16958" r="7903" b="28285"/>
          <a:stretch/>
        </p:blipFill>
        <p:spPr>
          <a:xfrm>
            <a:off x="685801" y="2399024"/>
            <a:ext cx="10451536" cy="430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35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dirty="0"/>
              <a:t>La otra técnica de búsqueda que usaremos es la búsqueda binaria. Este es un algoritmo mucho mas eficiente que la búsqueda secuencial, si y solo si, el vector esta ordenado. </a:t>
            </a:r>
          </a:p>
          <a:p>
            <a:pPr marL="0" indent="0" algn="just">
              <a:buNone/>
            </a:pPr>
            <a:r>
              <a:rPr lang="es-AR" dirty="0"/>
              <a:t>Es como la búsqueda que utilizamos nosotros los humanos para buscar en un diccionario.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buscar un elemento en  un arreglo?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188D46-3036-452F-9263-901AA8886F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46" t="37014" r="44660" b="28414"/>
          <a:stretch/>
        </p:blipFill>
        <p:spPr>
          <a:xfrm>
            <a:off x="6318697" y="2252357"/>
            <a:ext cx="4935984" cy="38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077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D1E69E0-24A7-4D9D-A887-C2205527E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306" t="17449" r="9299" b="21582"/>
          <a:stretch/>
        </p:blipFill>
        <p:spPr>
          <a:xfrm>
            <a:off x="200083" y="1272061"/>
            <a:ext cx="11792728" cy="559046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s-E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0684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Búsqueda en un vector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3FA8E9-A65F-4BF7-98BD-132532143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AR" b="1" u="sng" dirty="0"/>
              <a:t>Ejercicio: </a:t>
            </a:r>
            <a:r>
              <a:rPr lang="es-AR" dirty="0"/>
              <a:t>Crear un menú que permita al usuario elegir el tamaño de un vector de números flotantes, que permita cargar el vector a mano, cargar el vector de forma aleatoria, ver el vector, ordenar el vector por burbujeo, que el usuario ingrese un numero y el sistema diga si ese numero esta o no en el vector. </a:t>
            </a:r>
          </a:p>
        </p:txBody>
      </p:sp>
    </p:spTree>
    <p:extLst>
      <p:ext uri="{BB962C8B-B14F-4D97-AF65-F5344CB8AC3E}">
        <p14:creationId xmlns:p14="http://schemas.microsoft.com/office/powerpoint/2010/main" val="2091120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706</TotalTime>
  <Words>946</Words>
  <Application>Microsoft Office PowerPoint</Application>
  <PresentationFormat>Panorámica</PresentationFormat>
  <Paragraphs>60</Paragraphs>
  <Slides>13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Estela de condensación</vt:lpstr>
      <vt:lpstr>Programación de computadoras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de computadoras</dc:title>
  <dc:creator>Nicolas Perez</dc:creator>
  <cp:lastModifiedBy>Nicolas Perez</cp:lastModifiedBy>
  <cp:revision>116</cp:revision>
  <dcterms:created xsi:type="dcterms:W3CDTF">2019-02-17T22:54:54Z</dcterms:created>
  <dcterms:modified xsi:type="dcterms:W3CDTF">2024-08-12T12:41:27Z</dcterms:modified>
</cp:coreProperties>
</file>