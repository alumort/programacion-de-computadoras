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4" r:id="rId3"/>
    <p:sldId id="258" r:id="rId4"/>
    <p:sldId id="266" r:id="rId5"/>
    <p:sldId id="265" r:id="rId6"/>
    <p:sldId id="257" r:id="rId7"/>
    <p:sldId id="259" r:id="rId8"/>
    <p:sldId id="260" r:id="rId9"/>
    <p:sldId id="261"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E92842-1459-40BF-A174-06F9F48B91DA}" v="102" dt="2024-08-12T12:20:12.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8/12/2024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8/12/2024</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685800" y="3132666"/>
            <a:ext cx="5311775"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3132666"/>
            <a:ext cx="5334000" cy="3086019"/>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8/12/2024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8/12/2024</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8/12/2024</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8/12/2024</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‹Nº›</a:t>
            </a:fld>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8/12/2024</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onedrive.live.com/?authkey=%21AKZA5dN710%5FAfaQ&amp;id=9A02EF040D777400%21272651&amp;cid=9A02EF040D777400" TargetMode="External"/><Relationship Id="rId3" Type="http://schemas.openxmlformats.org/officeDocument/2006/relationships/hyperlink" Target="http://solangeglescano%40gmail.com%20%3Csolangeglescano@gmail.com/" TargetMode="External"/><Relationship Id="rId7" Type="http://schemas.openxmlformats.org/officeDocument/2006/relationships/hyperlink" Target="https://drive.google.com/drive/folders/1HG_yKnJz-cyNp_fY6Oi8wGZQA6lp5uRn?usp=drive_link" TargetMode="Externa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hyperlink" Target="https://www.youtube.com/playlist?list=PLbwWly6AYXqcKfHzzx-HvswwAXO7pd-sM" TargetMode="External"/><Relationship Id="rId5" Type="http://schemas.openxmlformats.org/officeDocument/2006/relationships/hyperlink" Target="https://join.slack.com/t/unlaprogramac-sq03771/shared_invite/zt-15vhrezlc-D11ywd~Pe35Ro32OskeiNg" TargetMode="External"/><Relationship Id="rId4" Type="http://schemas.openxmlformats.org/officeDocument/2006/relationships/hyperlink" Target="mailto:nperez_dcao_smn@outlook.com" TargetMode="External"/><Relationship Id="rId9" Type="http://schemas.openxmlformats.org/officeDocument/2006/relationships/hyperlink" Target="https://meet.jit.si/NykolaiPerezUNL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03E241-9735-4E5B-AB49-469970779F86}"/>
              </a:ext>
            </a:extLst>
          </p:cNvPr>
          <p:cNvSpPr>
            <a:spLocks noGrp="1"/>
          </p:cNvSpPr>
          <p:nvPr>
            <p:ph type="ctrTitle"/>
          </p:nvPr>
        </p:nvSpPr>
        <p:spPr>
          <a:xfrm>
            <a:off x="1371600" y="311155"/>
            <a:ext cx="9448800" cy="1825096"/>
          </a:xfrm>
        </p:spPr>
        <p:txBody>
          <a:bodyPr/>
          <a:lstStyle/>
          <a:p>
            <a:r>
              <a:rPr lang="es-AR" dirty="0"/>
              <a:t>Programación de computadoras</a:t>
            </a:r>
          </a:p>
        </p:txBody>
      </p:sp>
      <p:sp>
        <p:nvSpPr>
          <p:cNvPr id="3" name="Subtítulo 2">
            <a:extLst>
              <a:ext uri="{FF2B5EF4-FFF2-40B4-BE49-F238E27FC236}">
                <a16:creationId xmlns:a16="http://schemas.microsoft.com/office/drawing/2014/main" id="{B0663E95-53DF-429A-9155-E248FB34CFE2}"/>
              </a:ext>
            </a:extLst>
          </p:cNvPr>
          <p:cNvSpPr>
            <a:spLocks noGrp="1"/>
          </p:cNvSpPr>
          <p:nvPr>
            <p:ph type="subTitle" idx="1"/>
          </p:nvPr>
        </p:nvSpPr>
        <p:spPr>
          <a:xfrm>
            <a:off x="1371600" y="2139951"/>
            <a:ext cx="9448800" cy="685800"/>
          </a:xfrm>
        </p:spPr>
        <p:txBody>
          <a:bodyPr vert="horz" lIns="91440" tIns="45720" rIns="91440" bIns="45720" rtlCol="0" anchor="t">
            <a:normAutofit/>
          </a:bodyPr>
          <a:lstStyle/>
          <a:p>
            <a:r>
              <a:rPr lang="es-AR" dirty="0"/>
              <a:t>Licenciatura en Sistemas – Bloque II Funciones – Procedimientos - Arreglos</a:t>
            </a:r>
            <a:endParaRPr lang="en-US" dirty="0"/>
          </a:p>
        </p:txBody>
      </p:sp>
      <p:pic>
        <p:nvPicPr>
          <p:cNvPr id="4" name="Imagen 3">
            <a:extLst>
              <a:ext uri="{FF2B5EF4-FFF2-40B4-BE49-F238E27FC236}">
                <a16:creationId xmlns:a16="http://schemas.microsoft.com/office/drawing/2014/main" id="{3740B9EE-F6E7-4E69-885D-B5C0E4515D72}"/>
              </a:ext>
            </a:extLst>
          </p:cNvPr>
          <p:cNvPicPr>
            <a:picLocks noChangeAspect="1"/>
          </p:cNvPicPr>
          <p:nvPr/>
        </p:nvPicPr>
        <p:blipFill>
          <a:blip r:embed="rId2"/>
          <a:stretch>
            <a:fillRect/>
          </a:stretch>
        </p:blipFill>
        <p:spPr>
          <a:xfrm>
            <a:off x="11049000" y="5745332"/>
            <a:ext cx="1033510" cy="1033510"/>
          </a:xfrm>
          <a:prstGeom prst="rect">
            <a:avLst/>
          </a:prstGeom>
        </p:spPr>
      </p:pic>
      <p:sp>
        <p:nvSpPr>
          <p:cNvPr id="5" name="Rectángulo 4">
            <a:extLst>
              <a:ext uri="{FF2B5EF4-FFF2-40B4-BE49-F238E27FC236}">
                <a16:creationId xmlns:a16="http://schemas.microsoft.com/office/drawing/2014/main" id="{F9076307-E8AE-4674-8A55-C8188A698BD4}"/>
              </a:ext>
            </a:extLst>
          </p:cNvPr>
          <p:cNvSpPr/>
          <p:nvPr/>
        </p:nvSpPr>
        <p:spPr>
          <a:xfrm>
            <a:off x="1371600" y="2609419"/>
            <a:ext cx="10524478" cy="1631216"/>
          </a:xfrm>
          <a:prstGeom prst="rect">
            <a:avLst/>
          </a:prstGeom>
        </p:spPr>
        <p:txBody>
          <a:bodyPr wrap="square" lIns="91440" tIns="45720" rIns="91440" bIns="45720" anchor="t">
            <a:spAutoFit/>
          </a:bodyPr>
          <a:lstStyle/>
          <a:p>
            <a:endParaRPr lang="es-AR" sz="1200" dirty="0">
              <a:solidFill>
                <a:srgbClr val="000000"/>
              </a:solidFill>
              <a:latin typeface="Times New Roman" panose="02020603050405020304" pitchFamily="18" charset="0"/>
            </a:endParaRPr>
          </a:p>
          <a:p>
            <a:r>
              <a:rPr lang="es-AR" sz="1100" b="1">
                <a:solidFill>
                  <a:srgbClr val="666666"/>
                </a:solidFill>
                <a:ea typeface="+mn-lt"/>
                <a:cs typeface="+mn-lt"/>
              </a:rPr>
              <a:t>Docentes:</a:t>
            </a:r>
            <a:r>
              <a:rPr lang="es-AR" sz="1100">
                <a:solidFill>
                  <a:srgbClr val="666666"/>
                </a:solidFill>
                <a:ea typeface="+mn-lt"/>
                <a:cs typeface="+mn-lt"/>
              </a:rPr>
              <a:t> Nicolás Pérez - Solange </a:t>
            </a:r>
            <a:r>
              <a:rPr lang="es-AR" sz="1100" err="1">
                <a:solidFill>
                  <a:srgbClr val="666666"/>
                </a:solidFill>
                <a:ea typeface="+mn-lt"/>
                <a:cs typeface="+mn-lt"/>
              </a:rPr>
              <a:t>Lescano</a:t>
            </a:r>
            <a:endParaRPr lang="es-AR" err="1"/>
          </a:p>
          <a:p>
            <a:r>
              <a:rPr lang="es-AR" sz="1100">
                <a:solidFill>
                  <a:srgbClr val="7D9FD3"/>
                </a:solidFill>
                <a:ea typeface="+mn-lt"/>
                <a:cs typeface="+mn-lt"/>
              </a:rPr>
              <a:t>Contactos:</a:t>
            </a:r>
            <a:r>
              <a:rPr lang="es-AR" sz="1100" dirty="0">
                <a:solidFill>
                  <a:srgbClr val="333333"/>
                </a:solidFill>
                <a:ea typeface="+mn-lt"/>
                <a:cs typeface="+mn-lt"/>
              </a:rPr>
              <a:t> </a:t>
            </a:r>
            <a:r>
              <a:rPr lang="es-AR" sz="1100" dirty="0">
                <a:solidFill>
                  <a:srgbClr val="51666C"/>
                </a:solidFill>
                <a:ea typeface="+mn-lt"/>
                <a:cs typeface="+mn-lt"/>
                <a:hlinkClick r:id="rId3"/>
              </a:rPr>
              <a:t>solangeglescano@gmail.com  </a:t>
            </a:r>
            <a:r>
              <a:rPr lang="es-AR" sz="1100" dirty="0">
                <a:solidFill>
                  <a:srgbClr val="333333"/>
                </a:solidFill>
                <a:ea typeface="+mn-lt"/>
                <a:cs typeface="+mn-lt"/>
              </a:rPr>
              <a:t> </a:t>
            </a:r>
            <a:r>
              <a:rPr lang="es-AR" sz="1100" dirty="0">
                <a:solidFill>
                  <a:srgbClr val="51666C"/>
                </a:solidFill>
                <a:ea typeface="+mn-lt"/>
                <a:cs typeface="+mn-lt"/>
                <a:hlinkClick r:id="rId4"/>
              </a:rPr>
              <a:t>nperez_dcao_smn@outlook.com</a:t>
            </a:r>
            <a:endParaRPr lang="es-AR"/>
          </a:p>
          <a:p>
            <a:r>
              <a:rPr lang="es-AR" sz="1100" err="1">
                <a:solidFill>
                  <a:srgbClr val="FFCF35"/>
                </a:solidFill>
                <a:ea typeface="+mn-lt"/>
                <a:cs typeface="+mn-lt"/>
              </a:rPr>
              <a:t>Slack</a:t>
            </a:r>
            <a:r>
              <a:rPr lang="es-AR" sz="1100">
                <a:solidFill>
                  <a:srgbClr val="FFCF35"/>
                </a:solidFill>
                <a:ea typeface="+mn-lt"/>
                <a:cs typeface="+mn-lt"/>
              </a:rPr>
              <a:t>:</a:t>
            </a:r>
            <a:r>
              <a:rPr lang="es-AR" sz="1100" dirty="0">
                <a:solidFill>
                  <a:srgbClr val="333333"/>
                </a:solidFill>
                <a:ea typeface="+mn-lt"/>
                <a:cs typeface="+mn-lt"/>
              </a:rPr>
              <a:t>  </a:t>
            </a:r>
            <a:r>
              <a:rPr lang="es-AR" sz="1100" i="1" dirty="0">
                <a:solidFill>
                  <a:srgbClr val="51666C"/>
                </a:solidFill>
                <a:ea typeface="+mn-lt"/>
                <a:cs typeface="+mn-lt"/>
                <a:hlinkClick r:id="rId5"/>
              </a:rPr>
              <a:t>https://join.slack.com/t/unlaprogramac-sq03771/shared_invite/zt-15vhrezlc-D11ywd~Pe35Ro32OskeiNg</a:t>
            </a:r>
            <a:endParaRPr lang="es-AR"/>
          </a:p>
          <a:p>
            <a:r>
              <a:rPr lang="es-AR" sz="1100" b="1" dirty="0">
                <a:solidFill>
                  <a:srgbClr val="EF4540"/>
                </a:solidFill>
                <a:ea typeface="+mn-lt"/>
                <a:cs typeface="+mn-lt"/>
              </a:rPr>
              <a:t>Lista de reproducción: </a:t>
            </a:r>
            <a:r>
              <a:rPr lang="es-AR" sz="1100" dirty="0">
                <a:solidFill>
                  <a:srgbClr val="333333"/>
                </a:solidFill>
                <a:ea typeface="+mn-lt"/>
                <a:cs typeface="+mn-lt"/>
                <a:hlinkClick r:id="rId6"/>
              </a:rPr>
              <a:t>https://www.youtube.com/playlist?list=PLbwWly6AYXqcKfHzzx-HvswwAXO7pd-sM</a:t>
            </a:r>
            <a:br>
              <a:rPr lang="es-AR" sz="1100" dirty="0">
                <a:solidFill>
                  <a:srgbClr val="333333"/>
                </a:solidFill>
                <a:ea typeface="+mn-lt"/>
                <a:cs typeface="+mn-lt"/>
              </a:rPr>
            </a:br>
            <a:endParaRPr lang="es-AR" sz="1100" dirty="0">
              <a:solidFill>
                <a:srgbClr val="333333"/>
              </a:solidFill>
              <a:ea typeface="+mn-lt"/>
              <a:cs typeface="+mn-lt"/>
            </a:endParaRPr>
          </a:p>
          <a:p>
            <a:r>
              <a:rPr lang="es-AR" sz="1100" dirty="0">
                <a:solidFill>
                  <a:srgbClr val="98CA3E"/>
                </a:solidFill>
                <a:ea typeface="+mn-lt"/>
                <a:cs typeface="+mn-lt"/>
              </a:rPr>
              <a:t>Material digital:</a:t>
            </a:r>
            <a:r>
              <a:rPr lang="es-AR" sz="1100" dirty="0">
                <a:solidFill>
                  <a:srgbClr val="333333"/>
                </a:solidFill>
                <a:ea typeface="+mn-lt"/>
                <a:cs typeface="+mn-lt"/>
              </a:rPr>
              <a:t> </a:t>
            </a:r>
            <a:r>
              <a:rPr lang="es-AR" sz="1100" dirty="0">
                <a:solidFill>
                  <a:srgbClr val="51666C"/>
                </a:solidFill>
                <a:ea typeface="+mn-lt"/>
                <a:cs typeface="+mn-lt"/>
                <a:hlinkClick r:id="rId7"/>
              </a:rPr>
              <a:t>https://drive.google.com/drive/folders/1HG_yKnJz-cyNp_fY6Oi8wGZQA6lp5uRn?usp=drive_link</a:t>
            </a:r>
            <a:endParaRPr lang="es-AR"/>
          </a:p>
          <a:p>
            <a:r>
              <a:rPr lang="es-AR" sz="1100" dirty="0">
                <a:solidFill>
                  <a:srgbClr val="333333"/>
                </a:solidFill>
                <a:ea typeface="+mn-lt"/>
                <a:cs typeface="+mn-lt"/>
              </a:rPr>
              <a:t>Parciales Viejos: </a:t>
            </a:r>
            <a:r>
              <a:rPr lang="es-AR" sz="1100" dirty="0">
                <a:solidFill>
                  <a:srgbClr val="51666C"/>
                </a:solidFill>
                <a:ea typeface="+mn-lt"/>
                <a:cs typeface="+mn-lt"/>
                <a:hlinkClick r:id="rId8"/>
              </a:rPr>
              <a:t>Ver aquí</a:t>
            </a:r>
            <a:endParaRPr lang="es-AR"/>
          </a:p>
          <a:p>
            <a:r>
              <a:rPr lang="es-AR" sz="1100" dirty="0" err="1">
                <a:solidFill>
                  <a:srgbClr val="7D9FD3"/>
                </a:solidFill>
                <a:ea typeface="+mn-lt"/>
                <a:cs typeface="+mn-lt"/>
              </a:rPr>
              <a:t>Meet</a:t>
            </a:r>
            <a:r>
              <a:rPr lang="es-AR" sz="1100" dirty="0">
                <a:solidFill>
                  <a:srgbClr val="7D9FD3"/>
                </a:solidFill>
                <a:ea typeface="+mn-lt"/>
                <a:cs typeface="+mn-lt"/>
              </a:rPr>
              <a:t>:</a:t>
            </a:r>
            <a:r>
              <a:rPr lang="es-AR" sz="1100" dirty="0">
                <a:solidFill>
                  <a:srgbClr val="333333"/>
                </a:solidFill>
                <a:ea typeface="+mn-lt"/>
                <a:cs typeface="+mn-lt"/>
              </a:rPr>
              <a:t>  </a:t>
            </a:r>
            <a:r>
              <a:rPr lang="es-AR" sz="1100" dirty="0">
                <a:solidFill>
                  <a:srgbClr val="51666C"/>
                </a:solidFill>
                <a:ea typeface="+mn-lt"/>
                <a:cs typeface="+mn-lt"/>
                <a:hlinkClick r:id="rId9"/>
              </a:rPr>
              <a:t>https://meet.jit.si/NykolaiPerezUNLa</a:t>
            </a:r>
            <a:r>
              <a:rPr lang="es-AR" sz="1100" dirty="0">
                <a:solidFill>
                  <a:srgbClr val="333333"/>
                </a:solidFill>
                <a:ea typeface="+mn-lt"/>
                <a:cs typeface="+mn-lt"/>
              </a:rPr>
              <a:t> </a:t>
            </a:r>
            <a:endParaRPr lang="es-AR" dirty="0"/>
          </a:p>
        </p:txBody>
      </p:sp>
    </p:spTree>
    <p:extLst>
      <p:ext uri="{BB962C8B-B14F-4D97-AF65-F5344CB8AC3E}">
        <p14:creationId xmlns:p14="http://schemas.microsoft.com/office/powerpoint/2010/main" val="2617119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11032724" cy="4024125"/>
          </a:xfrm>
        </p:spPr>
        <p:txBody>
          <a:bodyPr>
            <a:normAutofit lnSpcReduction="10000"/>
          </a:bodyPr>
          <a:lstStyle/>
          <a:p>
            <a:pPr marL="0" indent="0" algn="just">
              <a:buNone/>
            </a:pPr>
            <a:r>
              <a:rPr lang="es-AR" sz="1600" dirty="0"/>
              <a:t>Conforme seguimos desarrollando programas nos vamos dando cuenta de que el tamaño de éstos va aumentando considerablemente, en cuanto realizamos una aplicación que haga tres o cuatro operaciones distintas tenemos un </a:t>
            </a:r>
            <a:r>
              <a:rPr lang="es-AR" sz="1600" b="1" dirty="0"/>
              <a:t>código fuente de un tamaño considerable</a:t>
            </a:r>
            <a:r>
              <a:rPr lang="es-AR" sz="1600" dirty="0"/>
              <a:t>. Además que a medida que vamos creando aplicaciones tenemos que repetir muchas veces determinados trozos de código. En programación esto se gestiona mediante</a:t>
            </a:r>
            <a:r>
              <a:rPr lang="es-AR" sz="1600" b="1" dirty="0"/>
              <a:t> procedimientos y funciones</a:t>
            </a:r>
            <a:r>
              <a:rPr lang="es-AR" sz="1600" dirty="0"/>
              <a:t>, muchos de ellos los importamos en librerías (como la </a:t>
            </a:r>
            <a:r>
              <a:rPr lang="es-AR" sz="1600" dirty="0" err="1"/>
              <a:t>stdio.h</a:t>
            </a:r>
            <a:r>
              <a:rPr lang="es-AR" sz="1600" dirty="0"/>
              <a:t>) y otros podemos realizarlos nosotros mismos.</a:t>
            </a:r>
          </a:p>
          <a:p>
            <a:pPr marL="0" indent="0" algn="just">
              <a:buNone/>
            </a:pPr>
            <a:r>
              <a:rPr lang="es-AR" sz="1600" b="1" u="sng" dirty="0"/>
              <a:t>Procedimiento:</a:t>
            </a:r>
          </a:p>
          <a:p>
            <a:pPr marL="0" indent="0" algn="just">
              <a:buNone/>
            </a:pPr>
            <a:r>
              <a:rPr lang="es-AR" sz="1600" dirty="0"/>
              <a:t>Un procedimiento es un fragmento de código cuya función es la de realizar una tarea específica independientemente del programa en el que se encuentre. Con los procedimientos se pueden crear algoritmos de ordenación de </a:t>
            </a:r>
            <a:r>
              <a:rPr lang="es-AR" sz="1600" dirty="0" err="1"/>
              <a:t>arrays</a:t>
            </a:r>
            <a:r>
              <a:rPr lang="es-AR" sz="1600" dirty="0"/>
              <a:t>, de modificación de datos, cálculos paralelos a la aplicación, activación de servicios, etc. Prácticamente cualquier cosa puede realizarse desde procedimientos independientes.</a:t>
            </a:r>
          </a:p>
          <a:p>
            <a:pPr marL="0" indent="0" algn="just">
              <a:buNone/>
            </a:pPr>
            <a:r>
              <a:rPr lang="es-AR" sz="1600" b="1" u="sng" dirty="0"/>
              <a:t>Función:</a:t>
            </a:r>
          </a:p>
          <a:p>
            <a:pPr marL="0" indent="0" algn="just">
              <a:buNone/>
            </a:pPr>
            <a:r>
              <a:rPr lang="es-AR" sz="1600" dirty="0"/>
              <a:t>Una función es exactamente lo mismo que un procedimiento salvo por un detalle, una función puede devolver un valor al programa principal y un procedimiento no. Con las funciones podemos realizar todas las tareas que se hacen con los procedimientos pero además pudiendo devolver valores (como por ejemplo el área de un triángulo).</a:t>
            </a:r>
          </a:p>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¿Qué son?              </a:t>
            </a:r>
          </a:p>
        </p:txBody>
      </p:sp>
    </p:spTree>
    <p:extLst>
      <p:ext uri="{BB962C8B-B14F-4D97-AF65-F5344CB8AC3E}">
        <p14:creationId xmlns:p14="http://schemas.microsoft.com/office/powerpoint/2010/main" val="34097197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4702946" cy="4024125"/>
          </a:xfrm>
        </p:spPr>
        <p:txBody>
          <a:bodyPr>
            <a:normAutofit/>
          </a:bodyPr>
          <a:lstStyle/>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¿Cómo se usan?              </a:t>
            </a:r>
          </a:p>
        </p:txBody>
      </p:sp>
      <p:pic>
        <p:nvPicPr>
          <p:cNvPr id="4" name="Imagen 3">
            <a:extLst>
              <a:ext uri="{FF2B5EF4-FFF2-40B4-BE49-F238E27FC236}">
                <a16:creationId xmlns:a16="http://schemas.microsoft.com/office/drawing/2014/main" id="{437DBF5A-3EEC-4076-97B7-1B619D6F08FB}"/>
              </a:ext>
            </a:extLst>
          </p:cNvPr>
          <p:cNvPicPr>
            <a:picLocks noChangeAspect="1"/>
          </p:cNvPicPr>
          <p:nvPr/>
        </p:nvPicPr>
        <p:blipFill rotWithShape="1">
          <a:blip r:embed="rId2"/>
          <a:srcRect l="14055" t="17347" r="29375" b="22287"/>
          <a:stretch/>
        </p:blipFill>
        <p:spPr>
          <a:xfrm>
            <a:off x="102287" y="2185123"/>
            <a:ext cx="6837705" cy="5025361"/>
          </a:xfrm>
          <a:prstGeom prst="rect">
            <a:avLst/>
          </a:prstGeom>
        </p:spPr>
      </p:pic>
      <p:pic>
        <p:nvPicPr>
          <p:cNvPr id="6" name="Imagen 5">
            <a:extLst>
              <a:ext uri="{FF2B5EF4-FFF2-40B4-BE49-F238E27FC236}">
                <a16:creationId xmlns:a16="http://schemas.microsoft.com/office/drawing/2014/main" id="{DF81B802-F7CF-4956-A845-D369752BBBB5}"/>
              </a:ext>
            </a:extLst>
          </p:cNvPr>
          <p:cNvPicPr>
            <a:picLocks noChangeAspect="1"/>
          </p:cNvPicPr>
          <p:nvPr/>
        </p:nvPicPr>
        <p:blipFill rotWithShape="1">
          <a:blip r:embed="rId3"/>
          <a:srcRect l="13762" t="16662" r="52815" b="24660"/>
          <a:stretch/>
        </p:blipFill>
        <p:spPr>
          <a:xfrm>
            <a:off x="6947363" y="2181366"/>
            <a:ext cx="5174509" cy="4311674"/>
          </a:xfrm>
          <a:prstGeom prst="rect">
            <a:avLst/>
          </a:prstGeom>
        </p:spPr>
      </p:pic>
      <p:sp>
        <p:nvSpPr>
          <p:cNvPr id="7" name="CuadroTexto 6">
            <a:extLst>
              <a:ext uri="{FF2B5EF4-FFF2-40B4-BE49-F238E27FC236}">
                <a16:creationId xmlns:a16="http://schemas.microsoft.com/office/drawing/2014/main" id="{47CC5E9D-91B5-498B-B79D-EDA9960258DC}"/>
              </a:ext>
            </a:extLst>
          </p:cNvPr>
          <p:cNvSpPr txBox="1"/>
          <p:nvPr/>
        </p:nvSpPr>
        <p:spPr>
          <a:xfrm>
            <a:off x="1553592" y="6259127"/>
            <a:ext cx="6010183" cy="369332"/>
          </a:xfrm>
          <a:prstGeom prst="rect">
            <a:avLst/>
          </a:prstGeom>
          <a:noFill/>
        </p:spPr>
        <p:txBody>
          <a:bodyPr wrap="square" rtlCol="0">
            <a:spAutoFit/>
          </a:bodyPr>
          <a:lstStyle/>
          <a:p>
            <a:r>
              <a:rPr lang="es-AR" dirty="0"/>
              <a:t>Luego del MAIN, se le da el cuerpo a las funciones</a:t>
            </a:r>
          </a:p>
        </p:txBody>
      </p:sp>
      <p:cxnSp>
        <p:nvCxnSpPr>
          <p:cNvPr id="9" name="Conector: angular 8">
            <a:extLst>
              <a:ext uri="{FF2B5EF4-FFF2-40B4-BE49-F238E27FC236}">
                <a16:creationId xmlns:a16="http://schemas.microsoft.com/office/drawing/2014/main" id="{286188B9-4190-43EB-9D4B-CF1E4700F3AF}"/>
              </a:ext>
            </a:extLst>
          </p:cNvPr>
          <p:cNvCxnSpPr>
            <a:cxnSpLocks/>
          </p:cNvCxnSpPr>
          <p:nvPr/>
        </p:nvCxnSpPr>
        <p:spPr>
          <a:xfrm rot="5400000" flipH="1" flipV="1">
            <a:off x="4598080" y="4051399"/>
            <a:ext cx="3720683" cy="71909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64EA4DBE-5F5B-4A89-A12B-C1E300591B8B}"/>
              </a:ext>
            </a:extLst>
          </p:cNvPr>
          <p:cNvSpPr txBox="1"/>
          <p:nvPr/>
        </p:nvSpPr>
        <p:spPr>
          <a:xfrm>
            <a:off x="3326711" y="3380570"/>
            <a:ext cx="3931698" cy="369332"/>
          </a:xfrm>
          <a:prstGeom prst="rect">
            <a:avLst/>
          </a:prstGeom>
          <a:noFill/>
        </p:spPr>
        <p:txBody>
          <a:bodyPr wrap="square" rtlCol="0">
            <a:spAutoFit/>
          </a:bodyPr>
          <a:lstStyle/>
          <a:p>
            <a:r>
              <a:rPr lang="es-AR" dirty="0"/>
              <a:t>TIPODATO nombre(Parámetros)</a:t>
            </a:r>
          </a:p>
        </p:txBody>
      </p:sp>
      <p:sp>
        <p:nvSpPr>
          <p:cNvPr id="13" name="CuadroTexto 12">
            <a:extLst>
              <a:ext uri="{FF2B5EF4-FFF2-40B4-BE49-F238E27FC236}">
                <a16:creationId xmlns:a16="http://schemas.microsoft.com/office/drawing/2014/main" id="{034F4334-C2BB-4E34-8671-22BE39A12195}"/>
              </a:ext>
            </a:extLst>
          </p:cNvPr>
          <p:cNvSpPr txBox="1"/>
          <p:nvPr/>
        </p:nvSpPr>
        <p:spPr>
          <a:xfrm>
            <a:off x="3140014" y="3748801"/>
            <a:ext cx="2601157" cy="646331"/>
          </a:xfrm>
          <a:prstGeom prst="rect">
            <a:avLst/>
          </a:prstGeom>
          <a:noFill/>
        </p:spPr>
        <p:txBody>
          <a:bodyPr wrap="square" rtlCol="0">
            <a:spAutoFit/>
          </a:bodyPr>
          <a:lstStyle/>
          <a:p>
            <a:r>
              <a:rPr lang="es-AR" dirty="0"/>
              <a:t>Llamado a función o procedimiento</a:t>
            </a:r>
          </a:p>
        </p:txBody>
      </p:sp>
    </p:spTree>
    <p:extLst>
      <p:ext uri="{BB962C8B-B14F-4D97-AF65-F5344CB8AC3E}">
        <p14:creationId xmlns:p14="http://schemas.microsoft.com/office/powerpoint/2010/main" val="30476790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4702946" cy="4024125"/>
          </a:xfrm>
        </p:spPr>
        <p:txBody>
          <a:bodyPr>
            <a:normAutofit/>
          </a:bodyPr>
          <a:lstStyle/>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Ejercicios:</a:t>
            </a:r>
          </a:p>
        </p:txBody>
      </p:sp>
      <p:sp>
        <p:nvSpPr>
          <p:cNvPr id="8" name="CuadroTexto 7">
            <a:extLst>
              <a:ext uri="{FF2B5EF4-FFF2-40B4-BE49-F238E27FC236}">
                <a16:creationId xmlns:a16="http://schemas.microsoft.com/office/drawing/2014/main" id="{EADF62C4-F6F5-4BEE-9A95-C5E59C2F5C9B}"/>
              </a:ext>
            </a:extLst>
          </p:cNvPr>
          <p:cNvSpPr txBox="1"/>
          <p:nvPr/>
        </p:nvSpPr>
        <p:spPr>
          <a:xfrm>
            <a:off x="514905" y="2618913"/>
            <a:ext cx="10537794" cy="3970318"/>
          </a:xfrm>
          <a:prstGeom prst="rect">
            <a:avLst/>
          </a:prstGeom>
          <a:noFill/>
        </p:spPr>
        <p:txBody>
          <a:bodyPr wrap="square" rtlCol="0">
            <a:spAutoFit/>
          </a:bodyPr>
          <a:lstStyle/>
          <a:p>
            <a:pPr marL="342900" indent="-342900">
              <a:buAutoNum type="arabicParenR"/>
            </a:pPr>
            <a:r>
              <a:rPr lang="es-AR" dirty="0"/>
              <a:t>Crear las siguientes funciones y procedimientos, probándolos desde el </a:t>
            </a:r>
            <a:r>
              <a:rPr lang="es-AR" dirty="0" err="1"/>
              <a:t>main</a:t>
            </a:r>
            <a:r>
              <a:rPr lang="es-AR" dirty="0"/>
              <a:t>.</a:t>
            </a:r>
          </a:p>
          <a:p>
            <a:pPr marL="342900" indent="-342900">
              <a:buAutoNum type="arabicParenR"/>
            </a:pPr>
            <a:endParaRPr lang="es-AR" dirty="0"/>
          </a:p>
          <a:p>
            <a:r>
              <a:rPr lang="es-AR" dirty="0" err="1"/>
              <a:t>int</a:t>
            </a:r>
            <a:r>
              <a:rPr lang="es-AR" dirty="0"/>
              <a:t> </a:t>
            </a:r>
            <a:r>
              <a:rPr lang="es-AR" dirty="0" err="1"/>
              <a:t>calcularEdad</a:t>
            </a:r>
            <a:r>
              <a:rPr lang="es-AR" dirty="0"/>
              <a:t>(</a:t>
            </a:r>
            <a:r>
              <a:rPr lang="es-AR" dirty="0" err="1"/>
              <a:t>int</a:t>
            </a:r>
            <a:r>
              <a:rPr lang="es-AR" dirty="0"/>
              <a:t> nacimiento, </a:t>
            </a:r>
            <a:r>
              <a:rPr lang="es-AR" dirty="0" err="1"/>
              <a:t>int</a:t>
            </a:r>
            <a:r>
              <a:rPr lang="es-AR" dirty="0"/>
              <a:t> </a:t>
            </a:r>
            <a:r>
              <a:rPr lang="es-AR" dirty="0" err="1"/>
              <a:t>anioHoy</a:t>
            </a:r>
            <a:r>
              <a:rPr lang="es-AR" dirty="0"/>
              <a:t>);</a:t>
            </a:r>
          </a:p>
          <a:p>
            <a:r>
              <a:rPr lang="es-AR" dirty="0" err="1"/>
              <a:t>float</a:t>
            </a:r>
            <a:r>
              <a:rPr lang="es-AR" dirty="0"/>
              <a:t> </a:t>
            </a:r>
            <a:r>
              <a:rPr lang="es-AR" dirty="0" err="1"/>
              <a:t>calcularIndiceDeMasaCorporal</a:t>
            </a:r>
            <a:r>
              <a:rPr lang="es-AR" dirty="0"/>
              <a:t>(</a:t>
            </a:r>
            <a:r>
              <a:rPr lang="es-AR" dirty="0" err="1"/>
              <a:t>float</a:t>
            </a:r>
            <a:r>
              <a:rPr lang="es-AR" dirty="0"/>
              <a:t> altura, </a:t>
            </a:r>
            <a:r>
              <a:rPr lang="es-AR" dirty="0" err="1"/>
              <a:t>float</a:t>
            </a:r>
            <a:r>
              <a:rPr lang="es-AR" dirty="0"/>
              <a:t> peso);</a:t>
            </a:r>
          </a:p>
          <a:p>
            <a:r>
              <a:rPr lang="es-AR" dirty="0" err="1"/>
              <a:t>Void</a:t>
            </a:r>
            <a:r>
              <a:rPr lang="es-AR" dirty="0"/>
              <a:t> </a:t>
            </a:r>
            <a:r>
              <a:rPr lang="es-AR" dirty="0" err="1"/>
              <a:t>dibujarTriangulo</a:t>
            </a:r>
            <a:r>
              <a:rPr lang="es-AR" dirty="0"/>
              <a:t>(</a:t>
            </a:r>
            <a:r>
              <a:rPr lang="es-AR" dirty="0" err="1"/>
              <a:t>int</a:t>
            </a:r>
            <a:r>
              <a:rPr lang="es-AR" dirty="0"/>
              <a:t> base, </a:t>
            </a:r>
            <a:r>
              <a:rPr lang="es-AR" dirty="0" err="1"/>
              <a:t>int</a:t>
            </a:r>
            <a:r>
              <a:rPr lang="es-AR" dirty="0"/>
              <a:t> altura);</a:t>
            </a:r>
          </a:p>
          <a:p>
            <a:r>
              <a:rPr lang="es-AR" dirty="0" err="1"/>
              <a:t>Void</a:t>
            </a:r>
            <a:r>
              <a:rPr lang="es-AR" dirty="0"/>
              <a:t> </a:t>
            </a:r>
            <a:r>
              <a:rPr lang="es-AR" dirty="0" err="1"/>
              <a:t>calcularHipotenusa</a:t>
            </a:r>
            <a:r>
              <a:rPr lang="es-AR" dirty="0"/>
              <a:t>(</a:t>
            </a:r>
            <a:r>
              <a:rPr lang="es-AR" dirty="0" err="1"/>
              <a:t>float</a:t>
            </a:r>
            <a:r>
              <a:rPr lang="es-AR" dirty="0"/>
              <a:t> cateto1, </a:t>
            </a:r>
            <a:r>
              <a:rPr lang="es-AR" dirty="0" err="1"/>
              <a:t>float</a:t>
            </a:r>
            <a:r>
              <a:rPr lang="es-AR" dirty="0"/>
              <a:t> catero2);</a:t>
            </a:r>
          </a:p>
          <a:p>
            <a:r>
              <a:rPr lang="es-AR" dirty="0" err="1"/>
              <a:t>Int</a:t>
            </a:r>
            <a:r>
              <a:rPr lang="es-AR" dirty="0"/>
              <a:t> </a:t>
            </a:r>
            <a:r>
              <a:rPr lang="es-AR" dirty="0" err="1"/>
              <a:t>cantidadDeVecesQueApareceLaLetra</a:t>
            </a:r>
            <a:r>
              <a:rPr lang="es-AR" dirty="0"/>
              <a:t>(</a:t>
            </a:r>
            <a:r>
              <a:rPr lang="es-AR" dirty="0" err="1"/>
              <a:t>char</a:t>
            </a:r>
            <a:r>
              <a:rPr lang="es-AR" dirty="0"/>
              <a:t> letra, </a:t>
            </a:r>
            <a:r>
              <a:rPr lang="es-AR" dirty="0" err="1"/>
              <a:t>char</a:t>
            </a:r>
            <a:r>
              <a:rPr lang="es-AR" dirty="0"/>
              <a:t> </a:t>
            </a:r>
            <a:r>
              <a:rPr lang="es-AR" dirty="0" err="1"/>
              <a:t>oracion</a:t>
            </a:r>
            <a:r>
              <a:rPr lang="es-AR" dirty="0"/>
              <a:t>[100]);</a:t>
            </a:r>
          </a:p>
          <a:p>
            <a:r>
              <a:rPr lang="es-AR" dirty="0" err="1"/>
              <a:t>Int</a:t>
            </a:r>
            <a:r>
              <a:rPr lang="es-AR" dirty="0"/>
              <a:t> </a:t>
            </a:r>
            <a:r>
              <a:rPr lang="es-AR" dirty="0" err="1"/>
              <a:t>pedirEnteroPorTeclado</a:t>
            </a:r>
            <a:r>
              <a:rPr lang="es-AR" dirty="0"/>
              <a:t>();</a:t>
            </a:r>
          </a:p>
          <a:p>
            <a:r>
              <a:rPr lang="es-AR" dirty="0" err="1"/>
              <a:t>Float</a:t>
            </a:r>
            <a:r>
              <a:rPr lang="es-AR" dirty="0"/>
              <a:t> </a:t>
            </a:r>
            <a:r>
              <a:rPr lang="es-AR" dirty="0" err="1"/>
              <a:t>pedirFloatPorTeclado</a:t>
            </a:r>
            <a:r>
              <a:rPr lang="es-AR" dirty="0"/>
              <a:t>();</a:t>
            </a:r>
          </a:p>
          <a:p>
            <a:r>
              <a:rPr lang="es-AR" dirty="0" err="1"/>
              <a:t>Void</a:t>
            </a:r>
            <a:r>
              <a:rPr lang="es-AR" dirty="0"/>
              <a:t> </a:t>
            </a:r>
            <a:r>
              <a:rPr lang="es-AR" dirty="0" err="1"/>
              <a:t>cargarVector</a:t>
            </a:r>
            <a:r>
              <a:rPr lang="es-AR" dirty="0"/>
              <a:t>(); //definir un vector global solo por ahora</a:t>
            </a:r>
          </a:p>
          <a:p>
            <a:r>
              <a:rPr lang="es-AR" dirty="0" err="1"/>
              <a:t>Void</a:t>
            </a:r>
            <a:r>
              <a:rPr lang="es-AR" dirty="0"/>
              <a:t> </a:t>
            </a:r>
            <a:r>
              <a:rPr lang="es-AR" dirty="0" err="1"/>
              <a:t>mostrarVector</a:t>
            </a:r>
            <a:r>
              <a:rPr lang="es-AR" dirty="0"/>
              <a:t>();</a:t>
            </a:r>
          </a:p>
          <a:p>
            <a:r>
              <a:rPr lang="es-AR" dirty="0" err="1"/>
              <a:t>Int</a:t>
            </a:r>
            <a:r>
              <a:rPr lang="es-AR" dirty="0"/>
              <a:t> </a:t>
            </a:r>
            <a:r>
              <a:rPr lang="es-AR" dirty="0" err="1"/>
              <a:t>maximoVector</a:t>
            </a:r>
            <a:r>
              <a:rPr lang="es-AR" dirty="0"/>
              <a:t>();</a:t>
            </a:r>
          </a:p>
          <a:p>
            <a:r>
              <a:rPr lang="es-AR" dirty="0" err="1"/>
              <a:t>Int</a:t>
            </a:r>
            <a:r>
              <a:rPr lang="es-AR" dirty="0"/>
              <a:t> </a:t>
            </a:r>
            <a:r>
              <a:rPr lang="es-AR" dirty="0" err="1"/>
              <a:t>minimoVector</a:t>
            </a:r>
            <a:r>
              <a:rPr lang="es-AR" dirty="0"/>
              <a:t>();</a:t>
            </a:r>
          </a:p>
          <a:p>
            <a:r>
              <a:rPr lang="es-AR" dirty="0" err="1"/>
              <a:t>Int</a:t>
            </a:r>
            <a:r>
              <a:rPr lang="es-AR" dirty="0"/>
              <a:t> </a:t>
            </a:r>
            <a:r>
              <a:rPr lang="es-AR" dirty="0" err="1"/>
              <a:t>cantidadNumerosRepetidosEnElVector</a:t>
            </a:r>
            <a:r>
              <a:rPr lang="es-AR" dirty="0"/>
              <a:t>();</a:t>
            </a:r>
          </a:p>
        </p:txBody>
      </p:sp>
    </p:spTree>
    <p:extLst>
      <p:ext uri="{BB962C8B-B14F-4D97-AF65-F5344CB8AC3E}">
        <p14:creationId xmlns:p14="http://schemas.microsoft.com/office/powerpoint/2010/main" val="123532204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U4:Funciones y procedimientos</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4702946" cy="4024125"/>
          </a:xfrm>
        </p:spPr>
        <p:txBody>
          <a:bodyPr>
            <a:normAutofit/>
          </a:bodyPr>
          <a:lstStyle/>
          <a:p>
            <a:pPr marL="0" indent="0" algn="just">
              <a:buNone/>
            </a:pPr>
            <a:endParaRPr lang="es-AR" dirty="0"/>
          </a:p>
          <a:p>
            <a:pPr marL="0" indent="0" algn="just">
              <a:buNone/>
            </a:pPr>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Ejercicios:</a:t>
            </a:r>
          </a:p>
        </p:txBody>
      </p:sp>
      <p:sp>
        <p:nvSpPr>
          <p:cNvPr id="8" name="CuadroTexto 7">
            <a:extLst>
              <a:ext uri="{FF2B5EF4-FFF2-40B4-BE49-F238E27FC236}">
                <a16:creationId xmlns:a16="http://schemas.microsoft.com/office/drawing/2014/main" id="{EADF62C4-F6F5-4BEE-9A95-C5E59C2F5C9B}"/>
              </a:ext>
            </a:extLst>
          </p:cNvPr>
          <p:cNvSpPr txBox="1"/>
          <p:nvPr/>
        </p:nvSpPr>
        <p:spPr>
          <a:xfrm>
            <a:off x="479395" y="2610036"/>
            <a:ext cx="10537794" cy="2031325"/>
          </a:xfrm>
          <a:prstGeom prst="rect">
            <a:avLst/>
          </a:prstGeom>
          <a:noFill/>
        </p:spPr>
        <p:txBody>
          <a:bodyPr wrap="square" rtlCol="0">
            <a:spAutoFit/>
          </a:bodyPr>
          <a:lstStyle/>
          <a:p>
            <a:r>
              <a:rPr lang="es-AR" dirty="0"/>
              <a:t>2) Devolver 0 si es falso, 1 si es cierto, probarlo en el </a:t>
            </a:r>
            <a:r>
              <a:rPr lang="es-AR" dirty="0" err="1"/>
              <a:t>main</a:t>
            </a:r>
            <a:r>
              <a:rPr lang="es-AR" dirty="0"/>
              <a:t>, con casos positivos </a:t>
            </a:r>
            <a:r>
              <a:rPr lang="es-AR"/>
              <a:t>y negativos:</a:t>
            </a:r>
            <a:endParaRPr lang="es-AR" dirty="0"/>
          </a:p>
          <a:p>
            <a:endParaRPr lang="es-AR" dirty="0"/>
          </a:p>
          <a:p>
            <a:r>
              <a:rPr lang="es-AR" dirty="0" err="1"/>
              <a:t>Int</a:t>
            </a:r>
            <a:r>
              <a:rPr lang="es-AR" dirty="0"/>
              <a:t> </a:t>
            </a:r>
            <a:r>
              <a:rPr lang="es-AR" dirty="0" err="1"/>
              <a:t>esBisiesto</a:t>
            </a:r>
            <a:r>
              <a:rPr lang="es-AR" dirty="0"/>
              <a:t>(</a:t>
            </a:r>
            <a:r>
              <a:rPr lang="es-AR" dirty="0" err="1"/>
              <a:t>int</a:t>
            </a:r>
            <a:r>
              <a:rPr lang="es-AR" dirty="0"/>
              <a:t> </a:t>
            </a:r>
            <a:r>
              <a:rPr lang="es-AR" dirty="0" err="1"/>
              <a:t>anio</a:t>
            </a:r>
            <a:r>
              <a:rPr lang="es-AR" dirty="0"/>
              <a:t>);</a:t>
            </a:r>
          </a:p>
          <a:p>
            <a:r>
              <a:rPr lang="es-AR" dirty="0" err="1"/>
              <a:t>Int</a:t>
            </a:r>
            <a:r>
              <a:rPr lang="es-AR" dirty="0"/>
              <a:t> </a:t>
            </a:r>
            <a:r>
              <a:rPr lang="es-AR" dirty="0" err="1"/>
              <a:t>sonIguales</a:t>
            </a:r>
            <a:r>
              <a:rPr lang="es-AR" dirty="0"/>
              <a:t>(</a:t>
            </a:r>
            <a:r>
              <a:rPr lang="es-AR" dirty="0" err="1"/>
              <a:t>char</a:t>
            </a:r>
            <a:r>
              <a:rPr lang="es-AR" dirty="0"/>
              <a:t> nombre1[20], </a:t>
            </a:r>
            <a:r>
              <a:rPr lang="es-AR" dirty="0" err="1"/>
              <a:t>char</a:t>
            </a:r>
            <a:r>
              <a:rPr lang="es-AR" dirty="0"/>
              <a:t> nombre2[20]);</a:t>
            </a:r>
          </a:p>
          <a:p>
            <a:r>
              <a:rPr lang="es-AR" dirty="0" err="1"/>
              <a:t>Int</a:t>
            </a:r>
            <a:r>
              <a:rPr lang="es-AR" dirty="0"/>
              <a:t> </a:t>
            </a:r>
            <a:r>
              <a:rPr lang="es-AR" dirty="0" err="1"/>
              <a:t>esMayorDeEdad</a:t>
            </a:r>
            <a:r>
              <a:rPr lang="es-AR" dirty="0"/>
              <a:t>(</a:t>
            </a:r>
            <a:r>
              <a:rPr lang="es-AR" dirty="0" err="1"/>
              <a:t>int</a:t>
            </a:r>
            <a:r>
              <a:rPr lang="es-AR" dirty="0"/>
              <a:t> </a:t>
            </a:r>
            <a:r>
              <a:rPr lang="es-AR" dirty="0" err="1"/>
              <a:t>anioNacimiento</a:t>
            </a:r>
            <a:r>
              <a:rPr lang="es-AR" dirty="0"/>
              <a:t>, </a:t>
            </a:r>
            <a:r>
              <a:rPr lang="es-AR" dirty="0" err="1"/>
              <a:t>intAnioHoy</a:t>
            </a:r>
            <a:r>
              <a:rPr lang="es-AR" dirty="0"/>
              <a:t>);</a:t>
            </a:r>
          </a:p>
          <a:p>
            <a:r>
              <a:rPr lang="es-AR" dirty="0" err="1"/>
              <a:t>Int</a:t>
            </a:r>
            <a:r>
              <a:rPr lang="es-AR" dirty="0"/>
              <a:t> </a:t>
            </a:r>
            <a:r>
              <a:rPr lang="es-AR" dirty="0" err="1"/>
              <a:t>esPalindromo</a:t>
            </a:r>
            <a:r>
              <a:rPr lang="es-AR" dirty="0"/>
              <a:t>(</a:t>
            </a:r>
            <a:r>
              <a:rPr lang="es-AR" dirty="0" err="1"/>
              <a:t>char</a:t>
            </a:r>
            <a:r>
              <a:rPr lang="es-AR" dirty="0"/>
              <a:t> oración[100]);</a:t>
            </a:r>
          </a:p>
          <a:p>
            <a:endParaRPr lang="es-AR" dirty="0"/>
          </a:p>
        </p:txBody>
      </p:sp>
    </p:spTree>
    <p:extLst>
      <p:ext uri="{BB962C8B-B14F-4D97-AF65-F5344CB8AC3E}">
        <p14:creationId xmlns:p14="http://schemas.microsoft.com/office/powerpoint/2010/main" val="33679709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 DE CHAR</a:t>
            </a:r>
          </a:p>
        </p:txBody>
      </p:sp>
      <p:sp>
        <p:nvSpPr>
          <p:cNvPr id="3" name="Marcador de contenido 2">
            <a:extLst>
              <a:ext uri="{FF2B5EF4-FFF2-40B4-BE49-F238E27FC236}">
                <a16:creationId xmlns:a16="http://schemas.microsoft.com/office/drawing/2014/main" id="{CDA24AE8-D4DB-4CBC-B055-9027C40A91BE}"/>
              </a:ext>
            </a:extLst>
          </p:cNvPr>
          <p:cNvSpPr>
            <a:spLocks noGrp="1"/>
          </p:cNvSpPr>
          <p:nvPr>
            <p:ph idx="1"/>
          </p:nvPr>
        </p:nvSpPr>
        <p:spPr>
          <a:xfrm>
            <a:off x="685800" y="2538442"/>
            <a:ext cx="5410200" cy="4024125"/>
          </a:xfrm>
        </p:spPr>
        <p:txBody>
          <a:bodyPr/>
          <a:lstStyle/>
          <a:p>
            <a:pPr marL="0" indent="0" algn="just">
              <a:buNone/>
            </a:pPr>
            <a:r>
              <a:rPr lang="es-AR" dirty="0"/>
              <a:t>Son básicamente un arreglo, al igual que los de números enteros o </a:t>
            </a:r>
            <a:r>
              <a:rPr lang="es-AR" dirty="0" err="1"/>
              <a:t>float</a:t>
            </a:r>
            <a:r>
              <a:rPr lang="es-AR" dirty="0"/>
              <a:t>, solo que estos tienen que tener un tratamiento mas delicada para las operaciones entre ellos.</a:t>
            </a:r>
          </a:p>
        </p:txBody>
      </p:sp>
      <p:sp>
        <p:nvSpPr>
          <p:cNvPr id="4" name="CuadroTexto 3">
            <a:extLst>
              <a:ext uri="{FF2B5EF4-FFF2-40B4-BE49-F238E27FC236}">
                <a16:creationId xmlns:a16="http://schemas.microsoft.com/office/drawing/2014/main" id="{A5273FBB-2E8C-45BD-9560-590B7B01C51D}"/>
              </a:ext>
            </a:extLst>
          </p:cNvPr>
          <p:cNvSpPr txBox="1"/>
          <p:nvPr/>
        </p:nvSpPr>
        <p:spPr>
          <a:xfrm>
            <a:off x="6400801" y="2538442"/>
            <a:ext cx="5370990" cy="2862322"/>
          </a:xfrm>
          <a:prstGeom prst="rect">
            <a:avLst/>
          </a:prstGeom>
          <a:noFill/>
        </p:spPr>
        <p:txBody>
          <a:bodyPr wrap="square" rtlCol="0">
            <a:spAutoFit/>
          </a:bodyPr>
          <a:lstStyle/>
          <a:p>
            <a:r>
              <a:rPr lang="es-AR" dirty="0"/>
              <a:t>#</a:t>
            </a:r>
            <a:r>
              <a:rPr lang="es-AR" dirty="0" err="1"/>
              <a:t>include</a:t>
            </a:r>
            <a:r>
              <a:rPr lang="es-AR" dirty="0"/>
              <a:t> &lt;</a:t>
            </a:r>
            <a:r>
              <a:rPr lang="es-AR" dirty="0" err="1"/>
              <a:t>stdio.h</a:t>
            </a:r>
            <a:r>
              <a:rPr lang="es-AR" dirty="0"/>
              <a:t>&gt;</a:t>
            </a:r>
          </a:p>
          <a:p>
            <a:r>
              <a:rPr lang="es-AR" dirty="0"/>
              <a:t>#</a:t>
            </a:r>
            <a:r>
              <a:rPr lang="es-AR" dirty="0" err="1"/>
              <a:t>include</a:t>
            </a:r>
            <a:r>
              <a:rPr lang="es-AR" dirty="0"/>
              <a:t> &lt;</a:t>
            </a:r>
            <a:r>
              <a:rPr lang="es-AR" dirty="0" err="1"/>
              <a:t>stdlib.h</a:t>
            </a:r>
            <a:r>
              <a:rPr lang="es-AR" dirty="0"/>
              <a:t>&gt;</a:t>
            </a:r>
          </a:p>
          <a:p>
            <a:endParaRPr lang="es-AR" dirty="0"/>
          </a:p>
          <a:p>
            <a:r>
              <a:rPr lang="es-AR" dirty="0" err="1"/>
              <a:t>int</a:t>
            </a:r>
            <a:r>
              <a:rPr lang="es-AR" dirty="0"/>
              <a:t> </a:t>
            </a:r>
            <a:r>
              <a:rPr lang="es-AR" dirty="0" err="1"/>
              <a:t>main</a:t>
            </a:r>
            <a:r>
              <a:rPr lang="es-AR" dirty="0"/>
              <a:t>()</a:t>
            </a:r>
          </a:p>
          <a:p>
            <a:r>
              <a:rPr lang="es-AR" dirty="0"/>
              <a:t>{</a:t>
            </a:r>
          </a:p>
          <a:p>
            <a:r>
              <a:rPr lang="es-AR" dirty="0" err="1"/>
              <a:t>char</a:t>
            </a:r>
            <a:r>
              <a:rPr lang="es-AR" dirty="0"/>
              <a:t> cadena[20] = “ “; </a:t>
            </a:r>
          </a:p>
          <a:p>
            <a:r>
              <a:rPr lang="es-AR" dirty="0"/>
              <a:t>    </a:t>
            </a:r>
          </a:p>
          <a:p>
            <a:r>
              <a:rPr lang="es-AR" dirty="0"/>
              <a:t>    </a:t>
            </a:r>
            <a:r>
              <a:rPr lang="es-AR" dirty="0" err="1"/>
              <a:t>return</a:t>
            </a:r>
            <a:r>
              <a:rPr lang="es-AR" dirty="0"/>
              <a:t> 0;</a:t>
            </a:r>
          </a:p>
          <a:p>
            <a:r>
              <a:rPr lang="es-AR" dirty="0"/>
              <a:t>}</a:t>
            </a:r>
          </a:p>
          <a:p>
            <a:endParaRPr lang="es-AR" dirty="0"/>
          </a:p>
        </p:txBody>
      </p:sp>
      <p:sp>
        <p:nvSpPr>
          <p:cNvPr id="5" name="Rectángulo 4">
            <a:extLst>
              <a:ext uri="{FF2B5EF4-FFF2-40B4-BE49-F238E27FC236}">
                <a16:creationId xmlns:a16="http://schemas.microsoft.com/office/drawing/2014/main" id="{B92B4FEC-AD65-4D3A-9E0A-A7DBE0D5FB95}"/>
              </a:ext>
            </a:extLst>
          </p:cNvPr>
          <p:cNvSpPr/>
          <p:nvPr/>
        </p:nvSpPr>
        <p:spPr>
          <a:xfrm>
            <a:off x="763110" y="1528480"/>
            <a:ext cx="11275381" cy="769441"/>
          </a:xfrm>
          <a:prstGeom prst="rect">
            <a:avLst/>
          </a:prstGeom>
          <a:noFill/>
        </p:spPr>
        <p:txBody>
          <a:bodyPr wrap="square" lIns="91440" tIns="45720" rIns="91440" bIns="45720">
            <a:spAutoFit/>
          </a:bodyPr>
          <a:lstStyle/>
          <a:p>
            <a:pPr algn="ctr"/>
            <a:r>
              <a:rPr lang="es-ES" sz="4400" b="0" cap="none" spc="0" dirty="0">
                <a:ln w="0"/>
                <a:solidFill>
                  <a:schemeClr val="accent1"/>
                </a:solidFill>
                <a:effectLst>
                  <a:outerShdw blurRad="38100" dist="25400" dir="5400000" algn="ctr" rotWithShape="0">
                    <a:srgbClr val="6E747A">
                      <a:alpha val="43000"/>
                    </a:srgbClr>
                  </a:outerShdw>
                </a:effectLst>
              </a:rPr>
              <a:t>¿Qué son?             ¿Cómo se </a:t>
            </a:r>
            <a:r>
              <a:rPr lang="es-ES" sz="4400" b="0" cap="none" spc="0" dirty="0" err="1">
                <a:ln w="0"/>
                <a:solidFill>
                  <a:schemeClr val="accent1"/>
                </a:solidFill>
                <a:effectLst>
                  <a:outerShdw blurRad="38100" dist="25400" dir="5400000" algn="ctr" rotWithShape="0">
                    <a:srgbClr val="6E747A">
                      <a:alpha val="43000"/>
                    </a:srgbClr>
                  </a:outerShdw>
                </a:effectLst>
              </a:rPr>
              <a:t>declarán</a:t>
            </a:r>
            <a:r>
              <a:rPr lang="es-ES" sz="4400" b="0" cap="none" spc="0" dirty="0">
                <a:ln w="0"/>
                <a:solidFill>
                  <a:schemeClr val="accent1"/>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1335070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 DE CHAR</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65498" y="1882066"/>
            <a:ext cx="11151093" cy="923330"/>
          </a:xfrm>
          <a:prstGeom prst="rect">
            <a:avLst/>
          </a:prstGeom>
          <a:noFill/>
        </p:spPr>
        <p:txBody>
          <a:bodyPr wrap="square" lIns="91440" tIns="45720" rIns="91440" bIns="45720" rtlCol="0" anchor="t">
            <a:spAutoFit/>
          </a:bodyPr>
          <a:lstStyle/>
          <a:p>
            <a:r>
              <a:rPr lang="es-AR" b="1" dirty="0"/>
              <a:t>Ejemplo 3: </a:t>
            </a:r>
            <a:r>
              <a:rPr lang="es-AR" dirty="0"/>
              <a:t>Guardar y mostrar una palabra de como mucho 20 caracteres.</a:t>
            </a:r>
          </a:p>
          <a:p>
            <a:r>
              <a:rPr lang="es-AR" dirty="0"/>
              <a:t>-Cuidado con las palabras compuestas!!!.... ¡¡¡¡Uso del comando  </a:t>
            </a:r>
            <a:r>
              <a:rPr lang="es-AR" dirty="0" err="1"/>
              <a:t>gets</a:t>
            </a:r>
            <a:r>
              <a:rPr lang="es-AR" dirty="0"/>
              <a:t>.!!!!</a:t>
            </a:r>
          </a:p>
          <a:p>
            <a:r>
              <a:rPr lang="es-AR" dirty="0"/>
              <a:t>-Recorrer carácter a carácter la palabra, como hacíamos con los arreglos numéricos. </a:t>
            </a:r>
          </a:p>
        </p:txBody>
      </p:sp>
      <p:pic>
        <p:nvPicPr>
          <p:cNvPr id="3" name="Imagen 2">
            <a:extLst>
              <a:ext uri="{FF2B5EF4-FFF2-40B4-BE49-F238E27FC236}">
                <a16:creationId xmlns:a16="http://schemas.microsoft.com/office/drawing/2014/main" id="{F9BDD130-91C8-45B2-8D09-334720A15875}"/>
              </a:ext>
            </a:extLst>
          </p:cNvPr>
          <p:cNvPicPr>
            <a:picLocks noChangeAspect="1"/>
          </p:cNvPicPr>
          <p:nvPr/>
        </p:nvPicPr>
        <p:blipFill rotWithShape="1">
          <a:blip r:embed="rId2"/>
          <a:srcRect l="22037" t="17360" r="29218" b="23334"/>
          <a:stretch/>
        </p:blipFill>
        <p:spPr>
          <a:xfrm>
            <a:off x="3201267" y="2805396"/>
            <a:ext cx="7285758" cy="3729320"/>
          </a:xfrm>
          <a:prstGeom prst="rect">
            <a:avLst/>
          </a:prstGeom>
        </p:spPr>
      </p:pic>
    </p:spTree>
    <p:extLst>
      <p:ext uri="{BB962C8B-B14F-4D97-AF65-F5344CB8AC3E}">
        <p14:creationId xmlns:p14="http://schemas.microsoft.com/office/powerpoint/2010/main" val="17520288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 DE CHAR</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3416320"/>
          </a:xfrm>
          <a:prstGeom prst="rect">
            <a:avLst/>
          </a:prstGeom>
          <a:noFill/>
        </p:spPr>
        <p:txBody>
          <a:bodyPr wrap="square" lIns="91440" tIns="45720" rIns="91440" bIns="45720" rtlCol="0" anchor="t">
            <a:spAutoFit/>
          </a:bodyPr>
          <a:lstStyle/>
          <a:p>
            <a:pPr algn="just"/>
            <a:r>
              <a:rPr lang="es-AR" b="1" dirty="0"/>
              <a:t>Ejercicio 4: </a:t>
            </a:r>
            <a:r>
              <a:rPr lang="es-AR" dirty="0"/>
              <a:t>Escribir una oración, contar la cantidad de letras vocales y la cantidad de consonantes.  Cuidado, las oraciones pueden tener símbolos y números.</a:t>
            </a:r>
          </a:p>
          <a:p>
            <a:pPr algn="just"/>
            <a:endParaRPr lang="es-AR" dirty="0"/>
          </a:p>
          <a:p>
            <a:pPr algn="just"/>
            <a:r>
              <a:rPr lang="es-AR" b="1" dirty="0"/>
              <a:t>Ejercicio 5: </a:t>
            </a:r>
            <a:r>
              <a:rPr lang="es-AR" dirty="0"/>
              <a:t>Escribir una oración y mostrarla de atrás hacia adelante. </a:t>
            </a:r>
          </a:p>
          <a:p>
            <a:pPr algn="just"/>
            <a:endParaRPr lang="es-AR" dirty="0"/>
          </a:p>
          <a:p>
            <a:pPr algn="just"/>
            <a:r>
              <a:rPr lang="es-AR" b="1" dirty="0"/>
              <a:t>Ejercicio 6: </a:t>
            </a:r>
            <a:r>
              <a:rPr lang="es-AR" dirty="0"/>
              <a:t>Dada una oración decidir si es o no palíndromo, es decir la lectura de izquierda a derecha es igual que de derecha a izquierda. </a:t>
            </a:r>
          </a:p>
          <a:p>
            <a:pPr algn="just"/>
            <a:endParaRPr lang="es-AR" dirty="0"/>
          </a:p>
          <a:p>
            <a:pPr algn="just"/>
            <a:r>
              <a:rPr lang="es-AR" b="1" dirty="0"/>
              <a:t>Ejercicio 7: </a:t>
            </a:r>
            <a:r>
              <a:rPr lang="es-AR" dirty="0"/>
              <a:t>Escribir el nombre de dos personas y decidir si son o no el mismo nombre. En caso de ser nombres distintos generar un tercer nombre componiendo ambos. </a:t>
            </a:r>
          </a:p>
          <a:p>
            <a:pPr algn="just"/>
            <a:endParaRPr lang="es-AR" dirty="0">
              <a:solidFill>
                <a:srgbClr val="FF0000"/>
              </a:solidFill>
            </a:endParaRPr>
          </a:p>
          <a:p>
            <a:pPr algn="just"/>
            <a:r>
              <a:rPr lang="es-AR" b="1" dirty="0"/>
              <a:t>Ejercicio 8: </a:t>
            </a:r>
            <a:r>
              <a:rPr lang="es-AR" dirty="0"/>
              <a:t>Dadas dos palabras ordenarlas alfabéticamente. </a:t>
            </a:r>
          </a:p>
        </p:txBody>
      </p:sp>
    </p:spTree>
    <p:extLst>
      <p:ext uri="{BB962C8B-B14F-4D97-AF65-F5344CB8AC3E}">
        <p14:creationId xmlns:p14="http://schemas.microsoft.com/office/powerpoint/2010/main" val="2707866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 DE CHAR</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1151093" cy="2031325"/>
          </a:xfrm>
          <a:prstGeom prst="rect">
            <a:avLst/>
          </a:prstGeom>
          <a:noFill/>
        </p:spPr>
        <p:txBody>
          <a:bodyPr wrap="square" rtlCol="0">
            <a:spAutoFit/>
          </a:bodyPr>
          <a:lstStyle/>
          <a:p>
            <a:pPr algn="just"/>
            <a:r>
              <a:rPr lang="es-AR" dirty="0"/>
              <a:t>Para trabajar con mayor facilidad y evitar los problemas que nos pudieron surgir en los ejercicios anteriores, tendremos la librería &lt;</a:t>
            </a:r>
            <a:r>
              <a:rPr lang="es-AR" dirty="0" err="1"/>
              <a:t>string.h</a:t>
            </a:r>
            <a:r>
              <a:rPr lang="es-AR" dirty="0"/>
              <a:t>&gt;.</a:t>
            </a:r>
          </a:p>
          <a:p>
            <a:pPr algn="just"/>
            <a:r>
              <a:rPr lang="es-AR" dirty="0"/>
              <a:t>A través de la librería </a:t>
            </a:r>
            <a:r>
              <a:rPr lang="es-AR" dirty="0" err="1"/>
              <a:t>string.h</a:t>
            </a:r>
            <a:r>
              <a:rPr lang="es-AR" dirty="0"/>
              <a:t> podemos usar distintas funciones relacionadas con cadenas. Para usar estas funciones debemos escribir #</a:t>
            </a:r>
            <a:r>
              <a:rPr lang="es-AR" dirty="0" err="1"/>
              <a:t>include</a:t>
            </a:r>
            <a:r>
              <a:rPr lang="es-AR" dirty="0"/>
              <a:t> &lt;</a:t>
            </a:r>
            <a:r>
              <a:rPr lang="es-AR" dirty="0" err="1"/>
              <a:t>string.h</a:t>
            </a:r>
            <a:r>
              <a:rPr lang="es-AR" dirty="0"/>
              <a:t>&gt; en cabecera de nuestro programa. A continuación relacionamos algunas de las funciones disponibles.</a:t>
            </a:r>
          </a:p>
          <a:p>
            <a:pPr algn="just"/>
            <a:endParaRPr lang="es-AR" dirty="0"/>
          </a:p>
          <a:p>
            <a:pPr algn="just"/>
            <a:r>
              <a:rPr lang="es-AR" dirty="0"/>
              <a:t>Algunas funciones son: </a:t>
            </a:r>
          </a:p>
        </p:txBody>
      </p:sp>
      <p:pic>
        <p:nvPicPr>
          <p:cNvPr id="3" name="Imagen 2"/>
          <p:cNvPicPr>
            <a:picLocks noChangeAspect="1"/>
          </p:cNvPicPr>
          <p:nvPr/>
        </p:nvPicPr>
        <p:blipFill rotWithShape="1">
          <a:blip r:embed="rId2"/>
          <a:srcRect l="58985" t="25651" r="19649" b="56726"/>
          <a:stretch/>
        </p:blipFill>
        <p:spPr>
          <a:xfrm>
            <a:off x="2688871" y="4265539"/>
            <a:ext cx="6030599" cy="1508325"/>
          </a:xfrm>
          <a:prstGeom prst="rect">
            <a:avLst/>
          </a:prstGeom>
        </p:spPr>
      </p:pic>
    </p:spTree>
    <p:extLst>
      <p:ext uri="{BB962C8B-B14F-4D97-AF65-F5344CB8AC3E}">
        <p14:creationId xmlns:p14="http://schemas.microsoft.com/office/powerpoint/2010/main" val="15947290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 DE CHAR</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8" y="1882066"/>
            <a:ext cx="5307938" cy="646331"/>
          </a:xfrm>
          <a:prstGeom prst="rect">
            <a:avLst/>
          </a:prstGeom>
          <a:noFill/>
        </p:spPr>
        <p:txBody>
          <a:bodyPr wrap="square" rtlCol="0">
            <a:spAutoFit/>
          </a:bodyPr>
          <a:lstStyle/>
          <a:p>
            <a:pPr algn="just"/>
            <a:r>
              <a:rPr lang="es-AR" dirty="0"/>
              <a:t>Por ejemplo veamos la respuesta de estas funciones: </a:t>
            </a:r>
          </a:p>
        </p:txBody>
      </p:sp>
      <p:sp>
        <p:nvSpPr>
          <p:cNvPr id="4" name="Rectángulo 3"/>
          <p:cNvSpPr/>
          <p:nvPr/>
        </p:nvSpPr>
        <p:spPr>
          <a:xfrm>
            <a:off x="6096000" y="1810346"/>
            <a:ext cx="6096000" cy="4401205"/>
          </a:xfrm>
          <a:prstGeom prst="rect">
            <a:avLst/>
          </a:prstGeom>
        </p:spPr>
        <p:txBody>
          <a:bodyPr>
            <a:spAutoFit/>
          </a:bodyPr>
          <a:lstStyle/>
          <a:p>
            <a:endParaRPr lang="es-AR" sz="1000" dirty="0"/>
          </a:p>
          <a:p>
            <a:r>
              <a:rPr lang="es-AR" sz="1000" dirty="0"/>
              <a:t>#</a:t>
            </a:r>
            <a:r>
              <a:rPr lang="es-AR" sz="1000" dirty="0" err="1"/>
              <a:t>include</a:t>
            </a:r>
            <a:r>
              <a:rPr lang="es-AR" sz="1000" dirty="0"/>
              <a:t> &lt;</a:t>
            </a:r>
            <a:r>
              <a:rPr lang="es-AR" sz="1000" dirty="0" err="1"/>
              <a:t>stdio.h</a:t>
            </a:r>
            <a:r>
              <a:rPr lang="es-AR" sz="1000" dirty="0"/>
              <a:t>&gt;</a:t>
            </a:r>
          </a:p>
          <a:p>
            <a:r>
              <a:rPr lang="es-AR" sz="1000" dirty="0"/>
              <a:t>#</a:t>
            </a:r>
            <a:r>
              <a:rPr lang="es-AR" sz="1000" dirty="0" err="1"/>
              <a:t>include</a:t>
            </a:r>
            <a:r>
              <a:rPr lang="es-AR" sz="1000" dirty="0"/>
              <a:t> &lt;</a:t>
            </a:r>
            <a:r>
              <a:rPr lang="es-AR" sz="1000" dirty="0" err="1"/>
              <a:t>stdlib.h</a:t>
            </a:r>
            <a:r>
              <a:rPr lang="es-AR" sz="1000" dirty="0"/>
              <a:t>&gt;</a:t>
            </a:r>
          </a:p>
          <a:p>
            <a:r>
              <a:rPr lang="es-AR" sz="1000" dirty="0"/>
              <a:t>#</a:t>
            </a:r>
            <a:r>
              <a:rPr lang="es-AR" sz="1000" dirty="0" err="1"/>
              <a:t>include</a:t>
            </a:r>
            <a:r>
              <a:rPr lang="es-AR" sz="1000" dirty="0"/>
              <a:t> &lt;</a:t>
            </a:r>
            <a:r>
              <a:rPr lang="es-AR" sz="1000" dirty="0" err="1"/>
              <a:t>string.h</a:t>
            </a:r>
            <a:r>
              <a:rPr lang="es-AR" sz="1000" dirty="0"/>
              <a:t>&gt;</a:t>
            </a:r>
          </a:p>
          <a:p>
            <a:r>
              <a:rPr lang="es-AR" sz="1000" dirty="0" err="1"/>
              <a:t>int</a:t>
            </a:r>
            <a:r>
              <a:rPr lang="es-AR" sz="1000" dirty="0"/>
              <a:t> </a:t>
            </a:r>
            <a:r>
              <a:rPr lang="es-AR" sz="1000" dirty="0" err="1"/>
              <a:t>main</a:t>
            </a:r>
            <a:r>
              <a:rPr lang="es-AR" sz="1000" dirty="0"/>
              <a:t>() {</a:t>
            </a:r>
          </a:p>
          <a:p>
            <a:r>
              <a:rPr lang="es-AR" sz="1000" dirty="0">
                <a:solidFill>
                  <a:schemeClr val="accent1"/>
                </a:solidFill>
              </a:rPr>
              <a:t>    </a:t>
            </a:r>
            <a:r>
              <a:rPr lang="es-AR" sz="1000" dirty="0" err="1">
                <a:solidFill>
                  <a:schemeClr val="accent1"/>
                </a:solidFill>
              </a:rPr>
              <a:t>char</a:t>
            </a:r>
            <a:r>
              <a:rPr lang="es-AR" sz="1000" dirty="0">
                <a:solidFill>
                  <a:schemeClr val="accent1"/>
                </a:solidFill>
              </a:rPr>
              <a:t> cadena1 [] =“</a:t>
            </a:r>
            <a:r>
              <a:rPr lang="es-AR" sz="1000" dirty="0" err="1">
                <a:solidFill>
                  <a:schemeClr val="accent1"/>
                </a:solidFill>
              </a:rPr>
              <a:t>programacion</a:t>
            </a:r>
            <a:r>
              <a:rPr lang="es-AR" sz="1000" dirty="0">
                <a:solidFill>
                  <a:schemeClr val="accent1"/>
                </a:solidFill>
              </a:rPr>
              <a:t> UNLA"; </a:t>
            </a:r>
          </a:p>
          <a:p>
            <a:r>
              <a:rPr lang="es-AR" sz="1000" dirty="0">
                <a:solidFill>
                  <a:schemeClr val="accent1"/>
                </a:solidFill>
              </a:rPr>
              <a:t>    </a:t>
            </a:r>
            <a:r>
              <a:rPr lang="es-AR" sz="1000" dirty="0" err="1">
                <a:solidFill>
                  <a:schemeClr val="accent1"/>
                </a:solidFill>
              </a:rPr>
              <a:t>char</a:t>
            </a:r>
            <a:r>
              <a:rPr lang="es-AR" sz="1000" dirty="0">
                <a:solidFill>
                  <a:schemeClr val="accent1"/>
                </a:solidFill>
              </a:rPr>
              <a:t> cadena2 [</a:t>
            </a:r>
            <a:r>
              <a:rPr lang="es-AR" sz="1000" dirty="0" err="1">
                <a:solidFill>
                  <a:schemeClr val="accent1"/>
                </a:solidFill>
              </a:rPr>
              <a:t>sizeof</a:t>
            </a:r>
            <a:r>
              <a:rPr lang="es-AR" sz="1000" dirty="0">
                <a:solidFill>
                  <a:schemeClr val="accent1"/>
                </a:solidFill>
              </a:rPr>
              <a:t>(cadena1)];</a:t>
            </a:r>
          </a:p>
          <a:p>
            <a:r>
              <a:rPr lang="es-AR" sz="1000" dirty="0">
                <a:solidFill>
                  <a:schemeClr val="accent1"/>
                </a:solidFill>
              </a:rPr>
              <a:t>    </a:t>
            </a:r>
            <a:r>
              <a:rPr lang="es-AR" sz="1000" dirty="0" err="1">
                <a:solidFill>
                  <a:schemeClr val="accent1"/>
                </a:solidFill>
              </a:rPr>
              <a:t>char</a:t>
            </a:r>
            <a:r>
              <a:rPr lang="es-AR" sz="1000" dirty="0">
                <a:solidFill>
                  <a:schemeClr val="accent1"/>
                </a:solidFill>
              </a:rPr>
              <a:t> cadena3[] = " ok!";    </a:t>
            </a:r>
          </a:p>
          <a:p>
            <a:r>
              <a:rPr lang="es-AR" sz="1000" dirty="0">
                <a:solidFill>
                  <a:schemeClr val="accent1"/>
                </a:solidFill>
              </a:rPr>
              <a:t>    </a:t>
            </a:r>
            <a:r>
              <a:rPr lang="es-AR" sz="1000" dirty="0" err="1">
                <a:solidFill>
                  <a:schemeClr val="accent1"/>
                </a:solidFill>
              </a:rPr>
              <a:t>char</a:t>
            </a:r>
            <a:r>
              <a:rPr lang="es-AR" sz="1000" dirty="0">
                <a:solidFill>
                  <a:schemeClr val="accent1"/>
                </a:solidFill>
              </a:rPr>
              <a:t> cadena4[50];</a:t>
            </a:r>
          </a:p>
          <a:p>
            <a:r>
              <a:rPr lang="es-AR" sz="1000" dirty="0">
                <a:solidFill>
                  <a:schemeClr val="accent1"/>
                </a:solidFill>
              </a:rPr>
              <a:t>    </a:t>
            </a:r>
            <a:r>
              <a:rPr lang="es-AR" sz="1000" dirty="0" err="1">
                <a:solidFill>
                  <a:schemeClr val="accent1"/>
                </a:solidFill>
              </a:rPr>
              <a:t>int</a:t>
            </a:r>
            <a:r>
              <a:rPr lang="es-AR" sz="1000" dirty="0">
                <a:solidFill>
                  <a:schemeClr val="accent1"/>
                </a:solidFill>
              </a:rPr>
              <a:t> </a:t>
            </a:r>
            <a:r>
              <a:rPr lang="es-AR" sz="1000" dirty="0" err="1">
                <a:solidFill>
                  <a:schemeClr val="accent1"/>
                </a:solidFill>
              </a:rPr>
              <a:t>resComparacion</a:t>
            </a:r>
            <a:r>
              <a:rPr lang="es-AR" sz="1000" dirty="0">
                <a:solidFill>
                  <a:schemeClr val="accent1"/>
                </a:solidFill>
              </a:rPr>
              <a:t>;</a:t>
            </a:r>
          </a:p>
          <a:p>
            <a:r>
              <a:rPr lang="es-AR" sz="1000" dirty="0"/>
              <a:t>    </a:t>
            </a:r>
            <a:r>
              <a:rPr lang="es-AR" sz="1000" dirty="0" err="1"/>
              <a:t>printf</a:t>
            </a:r>
            <a:r>
              <a:rPr lang="es-AR" sz="1000" dirty="0"/>
              <a:t> ("Cadena1 vale %s y Cadena2 vale %s \n", cadena1, cadena2);</a:t>
            </a:r>
          </a:p>
          <a:p>
            <a:r>
              <a:rPr lang="es-AR" sz="1000" dirty="0"/>
              <a:t>    </a:t>
            </a:r>
            <a:r>
              <a:rPr lang="es-AR" sz="1000" dirty="0" err="1"/>
              <a:t>strcpy</a:t>
            </a:r>
            <a:r>
              <a:rPr lang="es-AR" sz="1000" dirty="0"/>
              <a:t> (cadena2, cadena1); //Copia cadena1 en cadena2</a:t>
            </a:r>
          </a:p>
          <a:p>
            <a:r>
              <a:rPr lang="es-AR" sz="1000" dirty="0"/>
              <a:t>    </a:t>
            </a:r>
            <a:r>
              <a:rPr lang="es-AR" sz="1000" dirty="0" err="1"/>
              <a:t>printf</a:t>
            </a:r>
            <a:r>
              <a:rPr lang="es-AR" sz="1000" dirty="0"/>
              <a:t> ("Cadena1 vale %s y Cadena2 vale %s \n", cadena1, cadena2);</a:t>
            </a:r>
          </a:p>
          <a:p>
            <a:r>
              <a:rPr lang="es-AR" sz="1000" dirty="0"/>
              <a:t>    </a:t>
            </a:r>
            <a:r>
              <a:rPr lang="es-AR" sz="1000" dirty="0" err="1"/>
              <a:t>printf</a:t>
            </a:r>
            <a:r>
              <a:rPr lang="es-AR" sz="1000" dirty="0"/>
              <a:t> ("Cadena1 tiene longitud %d (uno mas contando \\0) \n",    </a:t>
            </a:r>
            <a:r>
              <a:rPr lang="es-AR" sz="1000" dirty="0" err="1"/>
              <a:t>strlen</a:t>
            </a:r>
            <a:r>
              <a:rPr lang="es-AR" sz="1000" dirty="0"/>
              <a:t>(cadena1));</a:t>
            </a:r>
          </a:p>
          <a:p>
            <a:r>
              <a:rPr lang="es-AR" sz="1000" dirty="0"/>
              <a:t>    </a:t>
            </a:r>
            <a:r>
              <a:rPr lang="es-AR" sz="1000" dirty="0" err="1"/>
              <a:t>strcpy</a:t>
            </a:r>
            <a:r>
              <a:rPr lang="es-AR" sz="1000" dirty="0"/>
              <a:t> (cadena4, cadena1) ;</a:t>
            </a:r>
          </a:p>
          <a:p>
            <a:r>
              <a:rPr lang="es-AR" sz="1000" dirty="0"/>
              <a:t>    </a:t>
            </a:r>
            <a:r>
              <a:rPr lang="es-AR" sz="1000" dirty="0" err="1"/>
              <a:t>printf</a:t>
            </a:r>
            <a:r>
              <a:rPr lang="es-AR" sz="1000" dirty="0"/>
              <a:t> ("</a:t>
            </a:r>
            <a:r>
              <a:rPr lang="es-AR" sz="1000" dirty="0" err="1"/>
              <a:t>Concatenacion</a:t>
            </a:r>
            <a:r>
              <a:rPr lang="es-AR" sz="1000" dirty="0"/>
              <a:t> %s \n", </a:t>
            </a:r>
            <a:r>
              <a:rPr lang="es-AR" sz="1000" dirty="0" err="1"/>
              <a:t>strcat</a:t>
            </a:r>
            <a:r>
              <a:rPr lang="es-AR" sz="1000" dirty="0"/>
              <a:t>(cadena4, cadena3));</a:t>
            </a:r>
          </a:p>
          <a:p>
            <a:r>
              <a:rPr lang="es-AR" sz="1000" dirty="0"/>
              <a:t>    </a:t>
            </a:r>
            <a:r>
              <a:rPr lang="es-AR" sz="1000" dirty="0" err="1"/>
              <a:t>resComparacion</a:t>
            </a:r>
            <a:r>
              <a:rPr lang="es-AR" sz="1000" dirty="0"/>
              <a:t> = </a:t>
            </a:r>
            <a:r>
              <a:rPr lang="es-AR" sz="1000" dirty="0" err="1"/>
              <a:t>strcmp</a:t>
            </a:r>
            <a:r>
              <a:rPr lang="es-AR" sz="1000" dirty="0"/>
              <a:t> (cadena4, cadena2);</a:t>
            </a:r>
          </a:p>
          <a:p>
            <a:r>
              <a:rPr lang="es-AR" sz="1000" dirty="0"/>
              <a:t>    </a:t>
            </a:r>
            <a:r>
              <a:rPr lang="es-AR" sz="1000" dirty="0" err="1"/>
              <a:t>printf</a:t>
            </a:r>
            <a:r>
              <a:rPr lang="es-AR" sz="1000" dirty="0"/>
              <a:t> ("Cadena1 vale %s y Cadena2 vale %s \n", cadena1, cadena2);</a:t>
            </a:r>
          </a:p>
          <a:p>
            <a:r>
              <a:rPr lang="es-AR" sz="1000" dirty="0"/>
              <a:t>    </a:t>
            </a:r>
            <a:r>
              <a:rPr lang="es-AR" sz="1000" dirty="0" err="1"/>
              <a:t>printf</a:t>
            </a:r>
            <a:r>
              <a:rPr lang="es-AR" sz="1000" dirty="0"/>
              <a:t> ("Cadena3 vale %s y Cadena4 vale %s \n", cadena3, cadena4);</a:t>
            </a:r>
          </a:p>
          <a:p>
            <a:r>
              <a:rPr lang="es-AR" sz="1000" dirty="0"/>
              <a:t>    </a:t>
            </a:r>
            <a:r>
              <a:rPr lang="es-AR" sz="1000" dirty="0" err="1"/>
              <a:t>if</a:t>
            </a:r>
            <a:r>
              <a:rPr lang="es-AR" sz="1000" dirty="0"/>
              <a:t> (</a:t>
            </a:r>
            <a:r>
              <a:rPr lang="es-AR" sz="1000" dirty="0" err="1"/>
              <a:t>resComparacion</a:t>
            </a:r>
            <a:r>
              <a:rPr lang="es-AR" sz="1000" dirty="0"/>
              <a:t> ==0) {</a:t>
            </a:r>
          </a:p>
          <a:p>
            <a:r>
              <a:rPr lang="es-AR" sz="1000" dirty="0"/>
              <a:t>        </a:t>
            </a:r>
            <a:r>
              <a:rPr lang="es-AR" sz="1000" dirty="0" err="1"/>
              <a:t>puts</a:t>
            </a:r>
            <a:r>
              <a:rPr lang="es-AR" sz="1000" dirty="0"/>
              <a:t> ("Las cadenas 1 y 2 son iguales");</a:t>
            </a:r>
          </a:p>
          <a:p>
            <a:r>
              <a:rPr lang="es-AR" sz="1000" dirty="0"/>
              <a:t>    }</a:t>
            </a:r>
          </a:p>
          <a:p>
            <a:r>
              <a:rPr lang="es-AR" sz="1000" dirty="0"/>
              <a:t>    </a:t>
            </a:r>
            <a:r>
              <a:rPr lang="es-AR" sz="1000" dirty="0" err="1"/>
              <a:t>resComparacion</a:t>
            </a:r>
            <a:r>
              <a:rPr lang="es-AR" sz="1000" dirty="0"/>
              <a:t> = </a:t>
            </a:r>
            <a:r>
              <a:rPr lang="es-AR" sz="1000" dirty="0" err="1"/>
              <a:t>strcmp</a:t>
            </a:r>
            <a:r>
              <a:rPr lang="es-AR" sz="1000" dirty="0"/>
              <a:t> (cadena1, cadena3);</a:t>
            </a:r>
          </a:p>
          <a:p>
            <a:r>
              <a:rPr lang="es-AR" sz="1000" dirty="0"/>
              <a:t>    </a:t>
            </a:r>
            <a:r>
              <a:rPr lang="es-AR" sz="1000" dirty="0" err="1"/>
              <a:t>if</a:t>
            </a:r>
            <a:r>
              <a:rPr lang="es-AR" sz="1000" dirty="0"/>
              <a:t> (</a:t>
            </a:r>
            <a:r>
              <a:rPr lang="es-AR" sz="1000" dirty="0" err="1"/>
              <a:t>resComparacion</a:t>
            </a:r>
            <a:r>
              <a:rPr lang="es-AR" sz="1000" dirty="0"/>
              <a:t> &gt;0) {</a:t>
            </a:r>
          </a:p>
          <a:p>
            <a:r>
              <a:rPr lang="es-AR" sz="1000" dirty="0"/>
              <a:t>        </a:t>
            </a:r>
            <a:r>
              <a:rPr lang="es-AR" sz="1000" dirty="0" err="1"/>
              <a:t>puts</a:t>
            </a:r>
            <a:r>
              <a:rPr lang="es-AR" sz="1000" dirty="0"/>
              <a:t> ("La cadena 1 precede </a:t>
            </a:r>
            <a:r>
              <a:rPr lang="es-AR" sz="1000" dirty="0" err="1"/>
              <a:t>alfabeticamente</a:t>
            </a:r>
            <a:r>
              <a:rPr lang="es-AR" sz="1000" dirty="0"/>
              <a:t> a la cadena 3");</a:t>
            </a:r>
          </a:p>
          <a:p>
            <a:r>
              <a:rPr lang="es-AR" sz="1000" dirty="0"/>
              <a:t>    }</a:t>
            </a:r>
          </a:p>
          <a:p>
            <a:r>
              <a:rPr lang="es-AR" sz="1000" dirty="0"/>
              <a:t>    </a:t>
            </a:r>
            <a:r>
              <a:rPr lang="es-AR" sz="1000" dirty="0" err="1"/>
              <a:t>return</a:t>
            </a:r>
            <a:r>
              <a:rPr lang="es-AR" sz="1000" dirty="0"/>
              <a:t> 0; </a:t>
            </a:r>
          </a:p>
          <a:p>
            <a:r>
              <a:rPr lang="es-AR" sz="1000" dirty="0"/>
              <a:t>}</a:t>
            </a:r>
          </a:p>
        </p:txBody>
      </p:sp>
      <p:pic>
        <p:nvPicPr>
          <p:cNvPr id="3" name="Imagen 2">
            <a:extLst>
              <a:ext uri="{FF2B5EF4-FFF2-40B4-BE49-F238E27FC236}">
                <a16:creationId xmlns:a16="http://schemas.microsoft.com/office/drawing/2014/main" id="{CF0F67C8-1FB4-48D4-8DBA-94F72A6314C6}"/>
              </a:ext>
            </a:extLst>
          </p:cNvPr>
          <p:cNvPicPr>
            <a:picLocks noChangeAspect="1"/>
          </p:cNvPicPr>
          <p:nvPr/>
        </p:nvPicPr>
        <p:blipFill rotWithShape="1">
          <a:blip r:embed="rId2"/>
          <a:srcRect l="9354" t="11145" r="47110" b="35824"/>
          <a:stretch/>
        </p:blipFill>
        <p:spPr>
          <a:xfrm>
            <a:off x="2171079" y="2304211"/>
            <a:ext cx="2537816" cy="3626008"/>
          </a:xfrm>
          <a:prstGeom prst="rect">
            <a:avLst/>
          </a:prstGeom>
        </p:spPr>
      </p:pic>
    </p:spTree>
    <p:extLst>
      <p:ext uri="{BB962C8B-B14F-4D97-AF65-F5344CB8AC3E}">
        <p14:creationId xmlns:p14="http://schemas.microsoft.com/office/powerpoint/2010/main" val="32792117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B5CC9-446C-40EC-BDFE-F373751E8410}"/>
              </a:ext>
            </a:extLst>
          </p:cNvPr>
          <p:cNvSpPr>
            <a:spLocks noGrp="1"/>
          </p:cNvSpPr>
          <p:nvPr>
            <p:ph type="title"/>
          </p:nvPr>
        </p:nvSpPr>
        <p:spPr>
          <a:xfrm>
            <a:off x="2895600" y="764373"/>
            <a:ext cx="8610600" cy="1293028"/>
          </a:xfrm>
        </p:spPr>
        <p:txBody>
          <a:bodyPr/>
          <a:lstStyle/>
          <a:p>
            <a:r>
              <a:rPr lang="es-AR" dirty="0"/>
              <a:t>U4:Arreglos DE CHAR</a:t>
            </a:r>
          </a:p>
        </p:txBody>
      </p:sp>
      <p:sp>
        <p:nvSpPr>
          <p:cNvPr id="5" name="Rectángulo 4">
            <a:extLst>
              <a:ext uri="{FF2B5EF4-FFF2-40B4-BE49-F238E27FC236}">
                <a16:creationId xmlns:a16="http://schemas.microsoft.com/office/drawing/2014/main" id="{B92B4FEC-AD65-4D3A-9E0A-A7DBE0D5FB95}"/>
              </a:ext>
            </a:extLst>
          </p:cNvPr>
          <p:cNvSpPr/>
          <p:nvPr/>
        </p:nvSpPr>
        <p:spPr>
          <a:xfrm>
            <a:off x="0" y="1528480"/>
            <a:ext cx="12038491" cy="769441"/>
          </a:xfrm>
          <a:prstGeom prst="rect">
            <a:avLst/>
          </a:prstGeom>
          <a:noFill/>
        </p:spPr>
        <p:txBody>
          <a:bodyPr wrap="square" lIns="91440" tIns="45720" rIns="91440" bIns="45720">
            <a:spAutoFit/>
          </a:bodyPr>
          <a:lstStyle/>
          <a:p>
            <a:r>
              <a:rPr lang="es-ES" sz="4400" b="0" cap="none" spc="0" dirty="0">
                <a:ln w="0"/>
                <a:solidFill>
                  <a:schemeClr val="accent1"/>
                </a:solidFill>
                <a:effectLst>
                  <a:outerShdw blurRad="38100" dist="25400" dir="5400000" algn="ctr" rotWithShape="0">
                    <a:srgbClr val="6E747A">
                      <a:alpha val="43000"/>
                    </a:srgbClr>
                  </a:outerShdw>
                </a:effectLst>
              </a:rPr>
              <a:t>    </a:t>
            </a:r>
          </a:p>
        </p:txBody>
      </p:sp>
      <p:sp>
        <p:nvSpPr>
          <p:cNvPr id="7" name="CuadroTexto 6">
            <a:extLst>
              <a:ext uri="{FF2B5EF4-FFF2-40B4-BE49-F238E27FC236}">
                <a16:creationId xmlns:a16="http://schemas.microsoft.com/office/drawing/2014/main" id="{35A4D58F-F8E9-4429-9AC5-4C94FD754DBF}"/>
              </a:ext>
            </a:extLst>
          </p:cNvPr>
          <p:cNvSpPr txBox="1"/>
          <p:nvPr/>
        </p:nvSpPr>
        <p:spPr>
          <a:xfrm>
            <a:off x="355107" y="1882066"/>
            <a:ext cx="10898247" cy="4801314"/>
          </a:xfrm>
          <a:prstGeom prst="rect">
            <a:avLst/>
          </a:prstGeom>
          <a:noFill/>
        </p:spPr>
        <p:txBody>
          <a:bodyPr wrap="square" lIns="91440" tIns="45720" rIns="91440" bIns="45720" rtlCol="0" anchor="t">
            <a:spAutoFit/>
          </a:bodyPr>
          <a:lstStyle/>
          <a:p>
            <a:r>
              <a:rPr lang="es-AR" b="1" dirty="0"/>
              <a:t>Ejercicio 9 </a:t>
            </a:r>
            <a:r>
              <a:rPr lang="es-AR" dirty="0"/>
              <a:t>Escribir un programa que pida tres cadenas al usuario y muestre su longitud (número de letras).</a:t>
            </a:r>
          </a:p>
          <a:p>
            <a:r>
              <a:rPr lang="es-AR" dirty="0"/>
              <a:t>Ejemplo: el usuario introduce como cadenas perro, pez y cocodrilo. El programa mostrará por pantalla. El número de letras para perro es 5. El número de letras para pez es 3. El número de letras para cocodrilo es 9.</a:t>
            </a:r>
          </a:p>
          <a:p>
            <a:pPr algn="just"/>
            <a:endParaRPr lang="es-AR" dirty="0"/>
          </a:p>
          <a:p>
            <a:pPr algn="just"/>
            <a:endParaRPr lang="es-AR" dirty="0"/>
          </a:p>
          <a:p>
            <a:r>
              <a:rPr lang="es-AR" b="1"/>
              <a:t>Ejercicio 10 : </a:t>
            </a:r>
            <a:r>
              <a:rPr lang="es-AR" dirty="0"/>
              <a:t>Escribir un programa que pida tres cadenas al usuario y muestre el resultado de concatenar las dos primeras letras de las cadenas introducidas y que indique si las dos primeras cadenas son iguales.</a:t>
            </a:r>
          </a:p>
          <a:p>
            <a:r>
              <a:rPr lang="es-AR" b="1" dirty="0"/>
              <a:t>Ejemplo:</a:t>
            </a:r>
            <a:r>
              <a:rPr lang="es-AR" dirty="0"/>
              <a:t> el usuario introduce como cadenas perro, vaca y cocodrilo. El programa mostrará por pantalla: “El resultado de concatenar las dos primeras letras de las cadenas es: </a:t>
            </a:r>
            <a:r>
              <a:rPr lang="es-AR" dirty="0" err="1"/>
              <a:t>pevaco</a:t>
            </a:r>
            <a:r>
              <a:rPr lang="es-AR" dirty="0"/>
              <a:t>. La primera cadena, perro, no es igual a la segunda cadena, vaca.”</a:t>
            </a:r>
          </a:p>
          <a:p>
            <a:r>
              <a:rPr lang="es-AR" dirty="0"/>
              <a:t>Si el usuario introdujera perro, perro, mulo, el programa debería mostrar: “El resultado de concatenar las dos primeras letras de las cadenas es </a:t>
            </a:r>
            <a:r>
              <a:rPr lang="es-AR" dirty="0" err="1"/>
              <a:t>pepemu</a:t>
            </a:r>
            <a:r>
              <a:rPr lang="es-AR" dirty="0"/>
              <a:t>. La primera cadena, perro, es igual a la segunda cadena, perro.”</a:t>
            </a:r>
          </a:p>
          <a:p>
            <a:pPr algn="just"/>
            <a:endParaRPr lang="es-AR" dirty="0"/>
          </a:p>
        </p:txBody>
      </p:sp>
    </p:spTree>
    <p:extLst>
      <p:ext uri="{BB962C8B-B14F-4D97-AF65-F5344CB8AC3E}">
        <p14:creationId xmlns:p14="http://schemas.microsoft.com/office/powerpoint/2010/main" val="3881770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Estela de condensación">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TM04033937[[fn=Estela de condensación]]</Template>
  <TotalTime>610</TotalTime>
  <Words>901</Words>
  <Application>Microsoft Office PowerPoint</Application>
  <PresentationFormat>Panorámica</PresentationFormat>
  <Paragraphs>84</Paragraphs>
  <Slides>11</Slides>
  <Notes>0</Notes>
  <HiddenSlides>0</HiddenSlides>
  <MMClips>0</MMClips>
  <ScaleCrop>false</ScaleCrop>
  <HeadingPairs>
    <vt:vector size="4" baseType="variant">
      <vt:variant>
        <vt:lpstr>Tema</vt:lpstr>
      </vt:variant>
      <vt:variant>
        <vt:i4>1</vt:i4>
      </vt:variant>
      <vt:variant>
        <vt:lpstr>Títulos de diapositiva</vt:lpstr>
      </vt:variant>
      <vt:variant>
        <vt:i4>11</vt:i4>
      </vt:variant>
    </vt:vector>
  </HeadingPairs>
  <TitlesOfParts>
    <vt:vector size="12" baseType="lpstr">
      <vt:lpstr>Estela de condensación</vt:lpstr>
      <vt:lpstr>Programación de computadoras</vt:lpstr>
      <vt:lpstr>U4:Funciones y procedimientos</vt:lpstr>
      <vt:lpstr>U4:Funciones y procedimientos</vt:lpstr>
      <vt:lpstr>U4:Funciones y procedimientos</vt:lpstr>
      <vt:lpstr>U4:Funciones y procedimientos</vt:lpstr>
      <vt:lpstr>U4:Arreglos DE CHAR</vt:lpstr>
      <vt:lpstr>U4:Arreglos DE CHAR</vt:lpstr>
      <vt:lpstr>U4:Arreglos DE CHAR</vt:lpstr>
      <vt:lpstr>U4:Arreglos DE CHAR</vt:lpstr>
      <vt:lpstr>U4:Arreglos DE CHAR</vt:lpstr>
      <vt:lpstr>U4:Arreglos DE CHAR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de computadoras</dc:title>
  <dc:creator>Nicolas Perez</dc:creator>
  <cp:lastModifiedBy>Nicolas Perez</cp:lastModifiedBy>
  <cp:revision>86</cp:revision>
  <dcterms:created xsi:type="dcterms:W3CDTF">2019-02-17T22:54:54Z</dcterms:created>
  <dcterms:modified xsi:type="dcterms:W3CDTF">2024-08-12T12:20:14Z</dcterms:modified>
</cp:coreProperties>
</file>